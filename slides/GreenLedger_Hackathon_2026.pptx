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0E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0271C"/>
          </a:solidFill>
          <a:ln w="12700">
            <a:solidFill>
              <a:srgbClr val="0027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5029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583680" y="-731520"/>
            <a:ext cx="4114800" cy="4114800"/>
          </a:xfrm>
          <a:prstGeom prst="ellipse">
            <a:avLst/>
          </a:prstGeom>
          <a:solidFill>
            <a:srgbClr val="001A10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0" y="-274320"/>
            <a:ext cx="2743200" cy="2743200"/>
          </a:xfrm>
          <a:prstGeom prst="ellipse">
            <a:avLst/>
          </a:prstGeom>
          <a:solidFill>
            <a:srgbClr val="002A18"/>
          </a:solidFill>
          <a:ln w="12700">
            <a:solidFill>
              <a:srgbClr val="00997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502920"/>
            <a:ext cx="1920240" cy="274320"/>
          </a:xfrm>
          <a:prstGeom prst="rect">
            <a:avLst/>
          </a:prstGeom>
          <a:solidFill>
            <a:srgbClr val="00C896">
              <a:alpha val="25000"/>
            </a:srgbClr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502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00C896"/>
                </a:solidFill>
              </a:rPr>
              <a:t>EARTH DAY HACKATHON 2026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457200" y="960120"/>
            <a:ext cx="2286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00C896"/>
                </a:solidFill>
              </a:rPr>
              <a:t>Green</a:t>
            </a:r>
            <a:endParaRPr lang="en-US" sz="6400" dirty="0"/>
          </a:p>
        </p:txBody>
      </p:sp>
      <p:sp>
        <p:nvSpPr>
          <p:cNvPr id="9" name="Text 7"/>
          <p:cNvSpPr/>
          <p:nvPr/>
        </p:nvSpPr>
        <p:spPr>
          <a:xfrm>
            <a:off x="2331720" y="96012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</a:rPr>
              <a:t>Ledger</a:t>
            </a:r>
            <a:endParaRPr lang="en-US" sz="6400" dirty="0"/>
          </a:p>
        </p:txBody>
      </p:sp>
      <p:sp>
        <p:nvSpPr>
          <p:cNvPr id="10" name="Text 8"/>
          <p:cNvSpPr/>
          <p:nvPr/>
        </p:nvSpPr>
        <p:spPr>
          <a:xfrm>
            <a:off x="457200" y="192024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9CA3AF"/>
                </a:solidFill>
              </a:rPr>
              <a:t>AI-Powered Carbon Intelligence</a:t>
            </a:r>
            <a:endParaRPr lang="en-US" sz="18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800" dirty="0">
                <a:solidFill>
                  <a:srgbClr val="9CA3AF"/>
                </a:solidFill>
              </a:rPr>
              <a:t>for Malaysian SMEs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457200" y="2788920"/>
            <a:ext cx="5029200" cy="0"/>
          </a:xfrm>
          <a:prstGeom prst="line">
            <a:avLst/>
          </a:prstGeom>
          <a:noFill/>
          <a:ln w="12700">
            <a:solidFill>
              <a:srgbClr val="1A33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880360"/>
            <a:ext cx="5486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CA3AF"/>
                </a:solidFill>
              </a:rPr>
              <a:t>Upload a utility bill. Get instant carbon footprint analysis.</a:t>
            </a:r>
            <a:endParaRPr lang="en-US" sz="1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200" dirty="0">
                <a:solidFill>
                  <a:srgbClr val="9CA3AF"/>
                </a:solidFill>
              </a:rPr>
              <a:t>Action-ready recommendations. In seconds.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65760" y="4800600"/>
            <a:ext cx="8412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D9977"/>
                </a:solidFill>
              </a:rPr>
              <a:t>The Access Group · Kuala Lumpur · 22 April 2026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65760" y="4800600"/>
            <a:ext cx="84124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0C896"/>
                </a:solidFill>
              </a:rPr>
              <a:t>Team Da House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0E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2 / 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C896"/>
                </a:solidFill>
              </a:rPr>
              <a:t>THE CHALLENGE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5029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</a:rPr>
              <a:t>Malaysian SMEs Are Flying Blind</a:t>
            </a:r>
            <a:endParaRPr lang="en-US" sz="2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</a:rPr>
              <a:t>On Carbon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4754880" cy="777240"/>
          </a:xfrm>
          <a:prstGeom prst="rect">
            <a:avLst/>
          </a:prstGeom>
          <a:solidFill>
            <a:srgbClr val="0F1C14"/>
          </a:solidFill>
          <a:ln w="12700">
            <a:solidFill>
              <a:srgbClr val="1A332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508760"/>
            <a:ext cx="54864" cy="77724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5216" y="1600200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No Visibility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85216" y="1856232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98% of Malaysian SMEs have zero carbon tracking — manual spreadsheets, if anything at all.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359152"/>
            <a:ext cx="4754880" cy="777240"/>
          </a:xfrm>
          <a:prstGeom prst="rect">
            <a:avLst/>
          </a:prstGeom>
          <a:solidFill>
            <a:srgbClr val="0F1C14"/>
          </a:solidFill>
          <a:ln w="12700">
            <a:solidFill>
              <a:srgbClr val="1A332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7200" y="2359152"/>
            <a:ext cx="54864" cy="77724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" y="2450592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Regulatory Tsunami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85216" y="2706624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Malaysia's Climate Change Act 2023 + Carbon Tax 2026 + EUDR compliance create urgent new obligations.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209544"/>
            <a:ext cx="4754880" cy="777240"/>
          </a:xfrm>
          <a:prstGeom prst="rect">
            <a:avLst/>
          </a:prstGeom>
          <a:solidFill>
            <a:srgbClr val="0F1C14"/>
          </a:solidFill>
          <a:ln w="12700">
            <a:solidFill>
              <a:srgbClr val="1A332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57200" y="3209544"/>
            <a:ext cx="54864" cy="77724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5216" y="3300984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Real Financial Risk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85216" y="3557016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EU buyers now demand supply-chain carbon data. Non-compliant SMEs risk losing export contracts worth RM billions.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57200" y="4059936"/>
            <a:ext cx="4754880" cy="777240"/>
          </a:xfrm>
          <a:prstGeom prst="rect">
            <a:avLst/>
          </a:prstGeom>
          <a:solidFill>
            <a:srgbClr val="0F1C14"/>
          </a:solidFill>
          <a:ln w="12700">
            <a:solidFill>
              <a:srgbClr val="1A332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57200" y="4059936"/>
            <a:ext cx="54864" cy="77724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5216" y="4151376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Too Expensive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85216" y="4407408"/>
            <a:ext cx="457200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Enterprise carbon platforms cost RM 3,000–15,000/month. SMEs have RM 0 budget for this.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577840" y="914400"/>
            <a:ext cx="3108960" cy="3840480"/>
          </a:xfrm>
          <a:prstGeom prst="rect">
            <a:avLst/>
          </a:prstGeom>
          <a:solidFill>
            <a:srgbClr val="0F1C14"/>
          </a:solidFill>
          <a:ln w="12700">
            <a:solidFill>
              <a:srgbClr val="1A332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577840" y="914400"/>
            <a:ext cx="3108960" cy="54864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77840" y="1188720"/>
            <a:ext cx="31089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FF6B6B"/>
                </a:solidFill>
              </a:rPr>
              <a:t>97%</a:t>
            </a:r>
            <a:endParaRPr lang="en-US" sz="7200" dirty="0"/>
          </a:p>
        </p:txBody>
      </p:sp>
      <p:sp>
        <p:nvSpPr>
          <p:cNvPr id="25" name="Text 23"/>
          <p:cNvSpPr/>
          <p:nvPr/>
        </p:nvSpPr>
        <p:spPr>
          <a:xfrm>
            <a:off x="5669280" y="2240280"/>
            <a:ext cx="2926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CA3AF"/>
                </a:solidFill>
              </a:rPr>
              <a:t>of Malaysian SMEs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CA3AF"/>
                </a:solidFill>
              </a:rPr>
              <a:t>have NO formal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CA3AF"/>
                </a:solidFill>
              </a:rPr>
              <a:t>carbon reporting</a:t>
            </a:r>
            <a:endParaRPr lang="en-US" sz="13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9CA3AF"/>
                </a:solidFill>
              </a:rPr>
              <a:t>— Bursa Malaysia 2023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852160" y="3611880"/>
            <a:ext cx="2560320" cy="0"/>
          </a:xfrm>
          <a:prstGeom prst="line">
            <a:avLst/>
          </a:prstGeom>
          <a:noFill/>
          <a:ln w="12700">
            <a:solidFill>
              <a:srgbClr val="1A33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0" y="3703320"/>
            <a:ext cx="2926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CA3AF"/>
                </a:solidFill>
              </a:rPr>
              <a:t>SMEs = 98.5% of all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CA3AF"/>
                </a:solidFill>
              </a:rPr>
              <a:t>Malaysian businesses</a:t>
            </a:r>
            <a:endParaRPr lang="en-US" sz="11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CA3AF"/>
                </a:solidFill>
              </a:rPr>
              <a:t>→ 1.2 million companies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0E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3 / 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C896"/>
                </a:solidFill>
              </a:rPr>
              <a:t>WHY NOW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The Regulatory Clock Is Ticking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1554480" y="1325880"/>
            <a:ext cx="45720" cy="3291840"/>
          </a:xfrm>
          <a:prstGeom prst="rect">
            <a:avLst/>
          </a:prstGeom>
          <a:solidFill>
            <a:srgbClr val="1A3326"/>
          </a:solidFill>
          <a:ln w="12700">
            <a:solidFill>
              <a:srgbClr val="1A332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63040" y="1417320"/>
            <a:ext cx="228600" cy="22860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28600" y="1353312"/>
            <a:ext cx="1097280" cy="292608"/>
          </a:xfrm>
          <a:prstGeom prst="rect">
            <a:avLst/>
          </a:prstGeom>
          <a:solidFill>
            <a:srgbClr val="00C896">
              <a:alpha val="20000"/>
            </a:srgbClr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1353312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896"/>
                </a:solidFill>
              </a:rPr>
              <a:t>2023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920240" y="128016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Malaysia Climate Change Act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920240" y="1554480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Mandatory GHG reporting for large emitters; SME framework incoming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463040" y="2258568"/>
            <a:ext cx="228600" cy="228600"/>
          </a:xfrm>
          <a:prstGeom prst="ellipse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28600" y="2194560"/>
            <a:ext cx="1097280" cy="292608"/>
          </a:xfrm>
          <a:prstGeom prst="rect">
            <a:avLst/>
          </a:prstGeom>
          <a:solidFill>
            <a:srgbClr val="F9E795">
              <a:alpha val="20000"/>
            </a:srgbClr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" y="219456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9E795"/>
                </a:solidFill>
              </a:rPr>
              <a:t>2024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920240" y="2121408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EU Deforestation Regulation (EUDR)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920240" y="2395728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Palm oil, timber, rubber exporters must prove zero deforestation + carbon traceability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1463040" y="3099816"/>
            <a:ext cx="228600" cy="22860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28600" y="3035808"/>
            <a:ext cx="1097280" cy="292608"/>
          </a:xfrm>
          <a:prstGeom prst="rect">
            <a:avLst/>
          </a:prstGeom>
          <a:solidFill>
            <a:srgbClr val="FF6B6B">
              <a:alpha val="20000"/>
            </a:srgbClr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303580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6B6B"/>
                </a:solidFill>
              </a:rPr>
              <a:t>2026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920240" y="2962656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Malaysia Carbon Tax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920240" y="3236976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Carbon pricing begins — SMEs must quantify emissions to calculate liability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1463040" y="3941064"/>
            <a:ext cx="228600" cy="228600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228600" y="3877056"/>
            <a:ext cx="1097280" cy="292608"/>
          </a:xfrm>
          <a:prstGeom prst="rect">
            <a:avLst/>
          </a:prstGeom>
          <a:solidFill>
            <a:srgbClr val="60A5FA">
              <a:alpha val="20000"/>
            </a:srgbClr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" y="3877056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60A5FA"/>
                </a:solidFill>
              </a:rPr>
              <a:t>2027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920240" y="3803904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EU CBAM Expansion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920240" y="4078224"/>
            <a:ext cx="6766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Carbon Border Adjustment Mechanism widens scope; Malaysian exporters face tariffs without data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solidFill>
            <a:srgbClr val="00271C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896"/>
                </a:solidFill>
              </a:rPr>
              <a:t>GreenLedger is built for this exact moment — affordable carbon intelligence for SMEs starting today.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80E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4 / 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C896"/>
                </a:solidFill>
              </a:rPr>
              <a:t>THE SOLUTION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C896"/>
                </a:solidFill>
              </a:rPr>
              <a:t>GreenLedger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4114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9CA3AF"/>
                </a:solidFill>
              </a:rPr>
              <a:t>Snap a photo of any utility bill or receipt.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9CA3AF"/>
                </a:solidFill>
              </a:rPr>
              <a:t>Get your carbon footprint in seconds.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9CA3AF"/>
                </a:solidFill>
              </a:rPr>
              <a:t>Know exactly where to cut.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2148840"/>
            <a:ext cx="2331720" cy="914400"/>
          </a:xfrm>
          <a:prstGeom prst="rect">
            <a:avLst/>
          </a:prstGeom>
          <a:solidFill>
            <a:srgbClr val="0F1C14"/>
          </a:solidFill>
          <a:ln w="12700">
            <a:solidFill>
              <a:srgbClr val="1A332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2148840"/>
            <a:ext cx="54864" cy="9144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5216" y="224028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Claude Vision AI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85216" y="2496312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Reads any bill image — TNB, Tenaga, diesel receipts, water bills — no manual data entry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880360" y="2148840"/>
            <a:ext cx="2331720" cy="914400"/>
          </a:xfrm>
          <a:prstGeom prst="rect">
            <a:avLst/>
          </a:prstGeom>
          <a:solidFill>
            <a:srgbClr val="0F1C14"/>
          </a:solidFill>
          <a:ln w="12700">
            <a:solidFill>
              <a:srgbClr val="1A332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880360" y="2148840"/>
            <a:ext cx="54864" cy="9144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08376" y="224028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Malaysian Emission Factors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008376" y="2496312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Peninsular 0.585 kgCO₂e/kWh (Suruhanjaya Tenaga 2022); Sabah, Sarawak, fuel, water all covered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3154680"/>
            <a:ext cx="2331720" cy="914400"/>
          </a:xfrm>
          <a:prstGeom prst="rect">
            <a:avLst/>
          </a:prstGeom>
          <a:solidFill>
            <a:srgbClr val="0F1C14"/>
          </a:solidFill>
          <a:ln w="12700">
            <a:solidFill>
              <a:srgbClr val="1A332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3154680"/>
            <a:ext cx="54864" cy="9144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5216" y="324612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GHG Protocol Compliant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85216" y="3502152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Scope 1 / 2 / 3 classification per GHG Protocol — the global standard for corporate carbon accounting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880360" y="3154680"/>
            <a:ext cx="2331720" cy="914400"/>
          </a:xfrm>
          <a:prstGeom prst="rect">
            <a:avLst/>
          </a:prstGeom>
          <a:solidFill>
            <a:srgbClr val="0F1C14"/>
          </a:solidFill>
          <a:ln w="12700">
            <a:solidFill>
              <a:srgbClr val="1A332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880360" y="3154680"/>
            <a:ext cx="54864" cy="9144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008376" y="3246120"/>
            <a:ext cx="2148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Instant Recommendations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008376" y="3502152"/>
            <a:ext cx="2148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AI-generated cost &amp; carbon reduction actions with RM savings estimates specific to Malaysian context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303520" y="868680"/>
            <a:ext cx="3383280" cy="3977640"/>
          </a:xfrm>
          <a:prstGeom prst="rect">
            <a:avLst/>
          </a:prstGeom>
          <a:solidFill>
            <a:srgbClr val="0F1C14"/>
          </a:solidFill>
          <a:ln w="12700">
            <a:solidFill>
              <a:srgbClr val="1A332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303520" y="868680"/>
            <a:ext cx="3383280" cy="5029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394960" y="960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6B6B"/>
                </a:solidFill>
              </a:rPr>
              <a:t>Before GreenLedger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440680" y="1298448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✗  Hours of manual Excel data entry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440680" y="1572768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✗  Emission factors from Google searches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40680" y="1847088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✗  No breakdown by scope or source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40680" y="2121408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✗  Zero actionable recommendations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440680" y="2395728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✗  Consultant fees: RM 5,000+/report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86400" y="2715768"/>
            <a:ext cx="2926080" cy="0"/>
          </a:xfrm>
          <a:prstGeom prst="line">
            <a:avLst/>
          </a:prstGeom>
          <a:noFill/>
          <a:ln w="12700">
            <a:solidFill>
              <a:srgbClr val="1A332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94960" y="280720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</a:rPr>
              <a:t>After GreenLedger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5440680" y="3145536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896"/>
                </a:solidFill>
              </a:rPr>
              <a:t>✓  Upload photo → results in &lt;30 seconds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40680" y="3419856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896"/>
                </a:solidFill>
              </a:rPr>
              <a:t>✓  Malaysia-certified emission factors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440680" y="3694176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896"/>
                </a:solidFill>
              </a:rPr>
              <a:t>✓  Scope 1/2/3 auto-classification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440680" y="3968496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896"/>
                </a:solidFill>
              </a:rPr>
              <a:t>✓  Ranked recommendations with RM savings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440680" y="4242816"/>
            <a:ext cx="3108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896"/>
                </a:solidFill>
              </a:rPr>
              <a:t>✓  Free during beta — RM 0 to start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0E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5 / 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C896"/>
                </a:solidFill>
              </a:rPr>
              <a:t>HOW IT WORKS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3 Steps from Bill to Insight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1234440"/>
            <a:ext cx="2651760" cy="3566160"/>
          </a:xfrm>
          <a:prstGeom prst="rect">
            <a:avLst/>
          </a:prstGeom>
          <a:solidFill>
            <a:srgbClr val="0F1C14"/>
          </a:solidFill>
          <a:ln w="12700">
            <a:solidFill>
              <a:srgbClr val="1A332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57200" y="1234440"/>
            <a:ext cx="2651760" cy="5029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13258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C896"/>
                </a:solidFill>
              </a:rPr>
              <a:t>01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234440" y="14173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Upload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4440" y="171907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896"/>
                </a:solidFill>
              </a:rPr>
              <a:t>Snap &amp; Drop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" y="2011680"/>
            <a:ext cx="2377440" cy="0"/>
          </a:xfrm>
          <a:prstGeom prst="line">
            <a:avLst/>
          </a:prstGeom>
          <a:noFill/>
          <a:ln w="12700">
            <a:solidFill>
              <a:srgbClr val="1A33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4360" y="2121408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CA3AF"/>
                </a:solidFill>
              </a:rPr>
              <a:t>Take a photo of any Malaysian utility bill — TNB electricity, diesel receipt, water bill, Petronas fuel. Drag &amp; drop or browse. JPEG, PNG, WebP all supported.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4133088"/>
            <a:ext cx="2468880" cy="502920"/>
          </a:xfrm>
          <a:prstGeom prst="rect">
            <a:avLst/>
          </a:prstGeom>
          <a:solidFill>
            <a:srgbClr val="001A10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413308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00C896"/>
                </a:solidFill>
              </a:rPr>
              <a:t>e.g. TNB monthly bill image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108960" y="2926080"/>
            <a:ext cx="91440" cy="2286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90672" y="278892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896"/>
                </a:solidFill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291840" y="1234440"/>
            <a:ext cx="2651760" cy="3566160"/>
          </a:xfrm>
          <a:prstGeom prst="rect">
            <a:avLst/>
          </a:prstGeom>
          <a:solidFill>
            <a:srgbClr val="0F1C14"/>
          </a:solidFill>
          <a:ln w="12700">
            <a:solidFill>
              <a:srgbClr val="1A332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91840" y="1234440"/>
            <a:ext cx="2651760" cy="5029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29000" y="13258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C896"/>
                </a:solidFill>
              </a:rPr>
              <a:t>02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4069080" y="14173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Analyse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069080" y="171907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896"/>
                </a:solidFill>
              </a:rPr>
              <a:t>Claude Vision AI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429000" y="2011680"/>
            <a:ext cx="2377440" cy="0"/>
          </a:xfrm>
          <a:prstGeom prst="line">
            <a:avLst/>
          </a:prstGeom>
          <a:noFill/>
          <a:ln w="12700">
            <a:solidFill>
              <a:srgbClr val="1A33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29000" y="2121408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CA3AF"/>
                </a:solidFill>
              </a:rPr>
              <a:t>Claude Haiku 4.5 Vision reads the bill: extracts vendor, date, all line items, quantities, units. Matches Malaysian emission factors. Classifies GHG scope automatically.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83280" y="4133088"/>
            <a:ext cx="2468880" cy="502920"/>
          </a:xfrm>
          <a:prstGeom prst="rect">
            <a:avLst/>
          </a:prstGeom>
          <a:solidFill>
            <a:srgbClr val="001A10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429000" y="413308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00C896"/>
                </a:solidFill>
              </a:rPr>
              <a:t>e.g. 161 kWh → 94.2 kg CO₂e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943600" y="2926080"/>
            <a:ext cx="91440" cy="2286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25312" y="2788920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896"/>
                </a:solidFill>
              </a:rPr>
              <a:t>→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6126480" y="1234440"/>
            <a:ext cx="2651760" cy="3566160"/>
          </a:xfrm>
          <a:prstGeom prst="rect">
            <a:avLst/>
          </a:prstGeom>
          <a:solidFill>
            <a:srgbClr val="0F1C14"/>
          </a:solidFill>
          <a:ln w="12700">
            <a:solidFill>
              <a:srgbClr val="1A332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26480" y="1234440"/>
            <a:ext cx="2651760" cy="5029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63640" y="13258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C896"/>
                </a:solidFill>
              </a:rPr>
              <a:t>03</a:t>
            </a:r>
            <a:endParaRPr lang="en-US" sz="3200" dirty="0"/>
          </a:p>
        </p:txBody>
      </p:sp>
      <p:sp>
        <p:nvSpPr>
          <p:cNvPr id="31" name="Text 29"/>
          <p:cNvSpPr/>
          <p:nvPr/>
        </p:nvSpPr>
        <p:spPr>
          <a:xfrm>
            <a:off x="6903720" y="14173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Act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6903720" y="171907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C896"/>
                </a:solidFill>
              </a:rPr>
              <a:t>Recommendations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6263640" y="2011680"/>
            <a:ext cx="2377440" cy="0"/>
          </a:xfrm>
          <a:prstGeom prst="line">
            <a:avLst/>
          </a:prstGeom>
          <a:noFill/>
          <a:ln w="12700">
            <a:solidFill>
              <a:srgbClr val="1A332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63640" y="2121408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9CA3AF"/>
                </a:solidFill>
              </a:rPr>
              <a:t>Receive ranked AI recommendations with specific CO₂e savings and RM/month cost savings. Compare across receipts. Track total footprint over time.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17920" y="4133088"/>
            <a:ext cx="2468880" cy="502920"/>
          </a:xfrm>
          <a:prstGeom prst="rect">
            <a:avLst/>
          </a:prstGeom>
          <a:solidFill>
            <a:srgbClr val="001A10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63640" y="413308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00C896"/>
                </a:solidFill>
              </a:rPr>
              <a:t>e.g. Switch to Tariff D → save RM 45/mo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0E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6 / 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C896"/>
                </a:solidFill>
              </a:rPr>
              <a:t>TECHNOLOGY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Built on Best-in-Class AI &amp; Web Stack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2651760" cy="3383280"/>
          </a:xfrm>
          <a:prstGeom prst="rect">
            <a:avLst/>
          </a:prstGeom>
          <a:solidFill>
            <a:srgbClr val="0F1C14"/>
          </a:solidFill>
          <a:ln w="12700">
            <a:solidFill>
              <a:srgbClr val="1A332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80160"/>
            <a:ext cx="2651760" cy="347472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2801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0E0B"/>
                </a:solidFill>
              </a:rPr>
              <a:t>Frontend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" y="1901952"/>
            <a:ext cx="91440" cy="91440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13232" y="18288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React 18 + Vite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2148840"/>
            <a:ext cx="2286000" cy="0"/>
          </a:xfrm>
          <a:prstGeom prst="line">
            <a:avLst/>
          </a:prstGeom>
          <a:noFill/>
          <a:ln w="6350">
            <a:solidFill>
              <a:srgbClr val="1A332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48640" y="2542032"/>
            <a:ext cx="91440" cy="91440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3232" y="24688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React Router v6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2788920"/>
            <a:ext cx="2286000" cy="0"/>
          </a:xfrm>
          <a:prstGeom prst="line">
            <a:avLst/>
          </a:prstGeom>
          <a:noFill/>
          <a:ln w="6350">
            <a:solidFill>
              <a:srgbClr val="1A332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3182112"/>
            <a:ext cx="91440" cy="91440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13232" y="3108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Lucide React icons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48640" y="3429000"/>
            <a:ext cx="2286000" cy="0"/>
          </a:xfrm>
          <a:prstGeom prst="line">
            <a:avLst/>
          </a:prstGeom>
          <a:noFill/>
          <a:ln w="6350">
            <a:solidFill>
              <a:srgbClr val="1A332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3822192"/>
            <a:ext cx="91440" cy="91440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3749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CSS glass-card design system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017520" y="25603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74151"/>
                </a:solidFill>
              </a:rPr>
              <a:t>→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3337560" y="1280160"/>
            <a:ext cx="2651760" cy="3383280"/>
          </a:xfrm>
          <a:prstGeom prst="rect">
            <a:avLst/>
          </a:prstGeom>
          <a:solidFill>
            <a:srgbClr val="0F1C14"/>
          </a:solidFill>
          <a:ln w="12700">
            <a:solidFill>
              <a:srgbClr val="1A332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337560" y="1280160"/>
            <a:ext cx="2651760" cy="34747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429000" y="12801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0E0B"/>
                </a:solidFill>
              </a:rPr>
              <a:t>Backend API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520440" y="1901952"/>
            <a:ext cx="91440" cy="9144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85032" y="18288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FastAPI (Python)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3520440" y="2148840"/>
            <a:ext cx="2286000" cy="0"/>
          </a:xfrm>
          <a:prstGeom prst="line">
            <a:avLst/>
          </a:prstGeom>
          <a:noFill/>
          <a:ln w="6350">
            <a:solidFill>
              <a:srgbClr val="1A332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520440" y="2542032"/>
            <a:ext cx="91440" cy="9144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85032" y="24688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Async CORS middleware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3520440" y="2788920"/>
            <a:ext cx="2286000" cy="0"/>
          </a:xfrm>
          <a:prstGeom prst="line">
            <a:avLst/>
          </a:prstGeom>
          <a:noFill/>
          <a:ln w="6350">
            <a:solidFill>
              <a:srgbClr val="1A3326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520440" y="3182112"/>
            <a:ext cx="91440" cy="9144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685032" y="3108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File validation pipeline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3520440" y="3429000"/>
            <a:ext cx="2286000" cy="0"/>
          </a:xfrm>
          <a:prstGeom prst="line">
            <a:avLst/>
          </a:prstGeom>
          <a:noFill/>
          <a:ln w="6350">
            <a:solidFill>
              <a:srgbClr val="1A3326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520440" y="3822192"/>
            <a:ext cx="91440" cy="9144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85032" y="3749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In-memory session store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5989320" y="2560320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74151"/>
                </a:solidFill>
              </a:rPr>
              <a:t>→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6309360" y="1280160"/>
            <a:ext cx="2651760" cy="3383280"/>
          </a:xfrm>
          <a:prstGeom prst="rect">
            <a:avLst/>
          </a:prstGeom>
          <a:solidFill>
            <a:srgbClr val="0F1C14"/>
          </a:solidFill>
          <a:ln w="12700">
            <a:solidFill>
              <a:srgbClr val="1A332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309360" y="1280160"/>
            <a:ext cx="2651760" cy="347472"/>
          </a:xfrm>
          <a:prstGeom prst="rect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00800" y="1280160"/>
            <a:ext cx="2468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80E0B"/>
                </a:solidFill>
              </a:rPr>
              <a:t>AI Engine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492240" y="1901952"/>
            <a:ext cx="91440" cy="91440"/>
          </a:xfrm>
          <a:prstGeom prst="ellipse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656832" y="18288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Claude Haiku 4.5 Vision</a:t>
            </a:r>
            <a:endParaRPr lang="en-US" sz="1150" dirty="0"/>
          </a:p>
        </p:txBody>
      </p:sp>
      <p:sp>
        <p:nvSpPr>
          <p:cNvPr id="41" name="Shape 39"/>
          <p:cNvSpPr/>
          <p:nvPr/>
        </p:nvSpPr>
        <p:spPr>
          <a:xfrm>
            <a:off x="6492240" y="2148840"/>
            <a:ext cx="2286000" cy="0"/>
          </a:xfrm>
          <a:prstGeom prst="line">
            <a:avLst/>
          </a:prstGeom>
          <a:noFill/>
          <a:ln w="6350">
            <a:solidFill>
              <a:srgbClr val="1A3326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6492240" y="2542032"/>
            <a:ext cx="91440" cy="91440"/>
          </a:xfrm>
          <a:prstGeom prst="ellipse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56832" y="246888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Structured JSON extraction</a:t>
            </a:r>
            <a:endParaRPr lang="en-US" sz="1150" dirty="0"/>
          </a:p>
        </p:txBody>
      </p:sp>
      <p:sp>
        <p:nvSpPr>
          <p:cNvPr id="44" name="Shape 42"/>
          <p:cNvSpPr/>
          <p:nvPr/>
        </p:nvSpPr>
        <p:spPr>
          <a:xfrm>
            <a:off x="6492240" y="2788920"/>
            <a:ext cx="2286000" cy="0"/>
          </a:xfrm>
          <a:prstGeom prst="line">
            <a:avLst/>
          </a:prstGeom>
          <a:noFill/>
          <a:ln w="6350">
            <a:solidFill>
              <a:srgbClr val="1A3326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6492240" y="3182112"/>
            <a:ext cx="91440" cy="91440"/>
          </a:xfrm>
          <a:prstGeom prst="ellipse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656832" y="31089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GHG recommendations</a:t>
            </a:r>
            <a:endParaRPr lang="en-US" sz="1150" dirty="0"/>
          </a:p>
        </p:txBody>
      </p:sp>
      <p:sp>
        <p:nvSpPr>
          <p:cNvPr id="47" name="Shape 45"/>
          <p:cNvSpPr/>
          <p:nvPr/>
        </p:nvSpPr>
        <p:spPr>
          <a:xfrm>
            <a:off x="6492240" y="3429000"/>
            <a:ext cx="2286000" cy="0"/>
          </a:xfrm>
          <a:prstGeom prst="line">
            <a:avLst/>
          </a:prstGeom>
          <a:noFill/>
          <a:ln w="6350">
            <a:solidFill>
              <a:srgbClr val="1A3326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492240" y="3822192"/>
            <a:ext cx="91440" cy="91440"/>
          </a:xfrm>
          <a:prstGeom prst="ellipse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656832" y="37490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Fallback error handling</a:t>
            </a:r>
            <a:endParaRPr lang="en-US" sz="1150" dirty="0"/>
          </a:p>
        </p:txBody>
      </p:sp>
      <p:sp>
        <p:nvSpPr>
          <p:cNvPr id="50" name="Shape 48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solidFill>
            <a:srgbClr val="001A10"/>
          </a:solidFill>
          <a:ln w="12700">
            <a:solidFill>
              <a:srgbClr val="1A332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65760" y="475488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Data Layer: Malaysian Emission Factors JSON  ·  GHG Protocol Scope Classification  ·  localStorage (demo)  ·  Real DB in v2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0E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7 / 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C896"/>
                </a:solidFill>
              </a:rPr>
              <a:t>DATA FOUNDATION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Malaysia-Certified Emission Factors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234440"/>
            <a:ext cx="2560320" cy="34747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234440"/>
            <a:ext cx="2560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0E0B"/>
                </a:solidFill>
              </a:rPr>
              <a:t>Energy Type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926080" y="1234440"/>
            <a:ext cx="1828800" cy="34747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0" y="12344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0E0B"/>
                </a:solidFill>
              </a:rPr>
              <a:t>Region / Subtype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234440"/>
            <a:ext cx="1371600" cy="34747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54880" y="12344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0E0B"/>
                </a:solidFill>
              </a:rPr>
              <a:t>Factor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234440"/>
            <a:ext cx="1280160" cy="34747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123444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0E0B"/>
                </a:solidFill>
              </a:rPr>
              <a:t>Unit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7406640" y="1234440"/>
            <a:ext cx="1645920" cy="34747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06640" y="123444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80E0B"/>
                </a:solidFill>
              </a:rPr>
              <a:t>Scope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1581912"/>
            <a:ext cx="2560320" cy="402336"/>
          </a:xfrm>
          <a:prstGeom prst="rect">
            <a:avLst/>
          </a:prstGeom>
          <a:solidFill>
            <a:srgbClr val="0F1C14"/>
          </a:solidFill>
          <a:ln w="6350">
            <a:solidFill>
              <a:srgbClr val="1A33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1581912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Electricity (TNB)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926080" y="1581912"/>
            <a:ext cx="1828800" cy="402336"/>
          </a:xfrm>
          <a:prstGeom prst="rect">
            <a:avLst/>
          </a:prstGeom>
          <a:solidFill>
            <a:srgbClr val="0F1C14"/>
          </a:solidFill>
          <a:ln w="6350">
            <a:solidFill>
              <a:srgbClr val="1A33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971800" y="1581912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Peninsular Malaysia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1581912"/>
            <a:ext cx="1371600" cy="402336"/>
          </a:xfrm>
          <a:prstGeom prst="rect">
            <a:avLst/>
          </a:prstGeom>
          <a:solidFill>
            <a:srgbClr val="0F1C14"/>
          </a:solidFill>
          <a:ln w="6350">
            <a:solidFill>
              <a:srgbClr val="1A33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00600" y="158191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E795"/>
                </a:solidFill>
              </a:rPr>
              <a:t>0.585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126480" y="1581912"/>
            <a:ext cx="1280160" cy="402336"/>
          </a:xfrm>
          <a:prstGeom prst="rect">
            <a:avLst/>
          </a:prstGeom>
          <a:solidFill>
            <a:srgbClr val="0F1C14"/>
          </a:solidFill>
          <a:ln w="6350">
            <a:solidFill>
              <a:srgbClr val="1A33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72200" y="158191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kg CO₂e/kWh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406640" y="1581912"/>
            <a:ext cx="1645920" cy="402336"/>
          </a:xfrm>
          <a:prstGeom prst="rect">
            <a:avLst/>
          </a:prstGeom>
          <a:solidFill>
            <a:srgbClr val="0F1C14"/>
          </a:solidFill>
          <a:ln w="6350">
            <a:solidFill>
              <a:srgbClr val="1A33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52360" y="158191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896"/>
                </a:solidFill>
              </a:rPr>
              <a:t>Scope 2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365760" y="2002536"/>
            <a:ext cx="2560320" cy="402336"/>
          </a:xfrm>
          <a:prstGeom prst="rect">
            <a:avLst/>
          </a:prstGeom>
          <a:solidFill>
            <a:srgbClr val="0A1510"/>
          </a:solidFill>
          <a:ln w="6350">
            <a:solidFill>
              <a:srgbClr val="1A33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2002536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Electricity (SESB)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926080" y="2002536"/>
            <a:ext cx="1828800" cy="402336"/>
          </a:xfrm>
          <a:prstGeom prst="rect">
            <a:avLst/>
          </a:prstGeom>
          <a:solidFill>
            <a:srgbClr val="0A1510"/>
          </a:solidFill>
          <a:ln w="6350">
            <a:solidFill>
              <a:srgbClr val="1A332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971800" y="2002536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Sabah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754880" y="2002536"/>
            <a:ext cx="1371600" cy="402336"/>
          </a:xfrm>
          <a:prstGeom prst="rect">
            <a:avLst/>
          </a:prstGeom>
          <a:solidFill>
            <a:srgbClr val="0A1510"/>
          </a:solidFill>
          <a:ln w="6350">
            <a:solidFill>
              <a:srgbClr val="1A33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2002536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E795"/>
                </a:solidFill>
              </a:rPr>
              <a:t>0.840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126480" y="2002536"/>
            <a:ext cx="1280160" cy="402336"/>
          </a:xfrm>
          <a:prstGeom prst="rect">
            <a:avLst/>
          </a:prstGeom>
          <a:solidFill>
            <a:srgbClr val="0A1510"/>
          </a:solidFill>
          <a:ln w="6350">
            <a:solidFill>
              <a:srgbClr val="1A33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72200" y="2002536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kg CO₂e/kWh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406640" y="2002536"/>
            <a:ext cx="1645920" cy="402336"/>
          </a:xfrm>
          <a:prstGeom prst="rect">
            <a:avLst/>
          </a:prstGeom>
          <a:solidFill>
            <a:srgbClr val="0A1510"/>
          </a:solidFill>
          <a:ln w="6350">
            <a:solidFill>
              <a:srgbClr val="1A332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52360" y="2002536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896"/>
                </a:solidFill>
              </a:rPr>
              <a:t>Scope 2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65760" y="2423160"/>
            <a:ext cx="2560320" cy="402336"/>
          </a:xfrm>
          <a:prstGeom prst="rect">
            <a:avLst/>
          </a:prstGeom>
          <a:solidFill>
            <a:srgbClr val="0F1C14"/>
          </a:solidFill>
          <a:ln w="6350">
            <a:solidFill>
              <a:srgbClr val="1A332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242316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Electricity (SEB)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2926080" y="2423160"/>
            <a:ext cx="1828800" cy="402336"/>
          </a:xfrm>
          <a:prstGeom prst="rect">
            <a:avLst/>
          </a:prstGeom>
          <a:solidFill>
            <a:srgbClr val="0F1C14"/>
          </a:solidFill>
          <a:ln w="6350">
            <a:solidFill>
              <a:srgbClr val="1A332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971800" y="2423160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Sarawak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754880" y="2423160"/>
            <a:ext cx="1371600" cy="402336"/>
          </a:xfrm>
          <a:prstGeom prst="rect">
            <a:avLst/>
          </a:prstGeom>
          <a:solidFill>
            <a:srgbClr val="0F1C14"/>
          </a:solidFill>
          <a:ln w="6350">
            <a:solidFill>
              <a:srgbClr val="1A332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00600" y="2423160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E795"/>
                </a:solidFill>
              </a:rPr>
              <a:t>0.474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126480" y="2423160"/>
            <a:ext cx="1280160" cy="402336"/>
          </a:xfrm>
          <a:prstGeom prst="rect">
            <a:avLst/>
          </a:prstGeom>
          <a:solidFill>
            <a:srgbClr val="0F1C14"/>
          </a:solidFill>
          <a:ln w="6350">
            <a:solidFill>
              <a:srgbClr val="1A332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172200" y="2423160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kg CO₂e/kWh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7406640" y="2423160"/>
            <a:ext cx="1645920" cy="402336"/>
          </a:xfrm>
          <a:prstGeom prst="rect">
            <a:avLst/>
          </a:prstGeom>
          <a:solidFill>
            <a:srgbClr val="0F1C14"/>
          </a:solidFill>
          <a:ln w="6350">
            <a:solidFill>
              <a:srgbClr val="1A332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452360" y="2423160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896"/>
                </a:solidFill>
              </a:rPr>
              <a:t>Scope 2</a:t>
            </a:r>
            <a:endParaRPr lang="en-US" sz="1100" dirty="0"/>
          </a:p>
        </p:txBody>
      </p:sp>
      <p:sp>
        <p:nvSpPr>
          <p:cNvPr id="46" name="Shape 44"/>
          <p:cNvSpPr/>
          <p:nvPr/>
        </p:nvSpPr>
        <p:spPr>
          <a:xfrm>
            <a:off x="365760" y="2843784"/>
            <a:ext cx="2560320" cy="402336"/>
          </a:xfrm>
          <a:prstGeom prst="rect">
            <a:avLst/>
          </a:prstGeom>
          <a:solidFill>
            <a:srgbClr val="0A1510"/>
          </a:solidFill>
          <a:ln w="6350">
            <a:solidFill>
              <a:srgbClr val="1A332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1480" y="2843784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Diesel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2926080" y="2843784"/>
            <a:ext cx="1828800" cy="402336"/>
          </a:xfrm>
          <a:prstGeom prst="rect">
            <a:avLst/>
          </a:prstGeom>
          <a:solidFill>
            <a:srgbClr val="0A1510"/>
          </a:solidFill>
          <a:ln w="6350">
            <a:solidFill>
              <a:srgbClr val="1A332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971800" y="2843784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All Malaysia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4754880" y="2843784"/>
            <a:ext cx="1371600" cy="402336"/>
          </a:xfrm>
          <a:prstGeom prst="rect">
            <a:avLst/>
          </a:prstGeom>
          <a:solidFill>
            <a:srgbClr val="0A1510"/>
          </a:solidFill>
          <a:ln w="6350">
            <a:solidFill>
              <a:srgbClr val="1A332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800600" y="2843784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E795"/>
                </a:solidFill>
              </a:rPr>
              <a:t>2.680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126480" y="2843784"/>
            <a:ext cx="1280160" cy="402336"/>
          </a:xfrm>
          <a:prstGeom prst="rect">
            <a:avLst/>
          </a:prstGeom>
          <a:solidFill>
            <a:srgbClr val="0A1510"/>
          </a:solidFill>
          <a:ln w="6350">
            <a:solidFill>
              <a:srgbClr val="1A332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172200" y="2843784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kg CO₂e/litre</a:t>
            </a:r>
            <a:endParaRPr lang="en-US" sz="1100" dirty="0"/>
          </a:p>
        </p:txBody>
      </p:sp>
      <p:sp>
        <p:nvSpPr>
          <p:cNvPr id="54" name="Shape 52"/>
          <p:cNvSpPr/>
          <p:nvPr/>
        </p:nvSpPr>
        <p:spPr>
          <a:xfrm>
            <a:off x="7406640" y="2843784"/>
            <a:ext cx="1645920" cy="402336"/>
          </a:xfrm>
          <a:prstGeom prst="rect">
            <a:avLst/>
          </a:prstGeom>
          <a:solidFill>
            <a:srgbClr val="0A1510"/>
          </a:solidFill>
          <a:ln w="6350">
            <a:solidFill>
              <a:srgbClr val="1A332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452360" y="2843784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896"/>
                </a:solidFill>
              </a:rPr>
              <a:t>Scope 1</a:t>
            </a:r>
            <a:endParaRPr lang="en-US" sz="1100" dirty="0"/>
          </a:p>
        </p:txBody>
      </p:sp>
      <p:sp>
        <p:nvSpPr>
          <p:cNvPr id="56" name="Shape 54"/>
          <p:cNvSpPr/>
          <p:nvPr/>
        </p:nvSpPr>
        <p:spPr>
          <a:xfrm>
            <a:off x="365760" y="3264408"/>
            <a:ext cx="2560320" cy="402336"/>
          </a:xfrm>
          <a:prstGeom prst="rect">
            <a:avLst/>
          </a:prstGeom>
          <a:solidFill>
            <a:srgbClr val="0F1C14"/>
          </a:solidFill>
          <a:ln w="6350">
            <a:solidFill>
              <a:srgbClr val="1A332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411480" y="3264408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Petrol (RON95/97)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2926080" y="3264408"/>
            <a:ext cx="1828800" cy="402336"/>
          </a:xfrm>
          <a:prstGeom prst="rect">
            <a:avLst/>
          </a:prstGeom>
          <a:solidFill>
            <a:srgbClr val="0F1C14"/>
          </a:solidFill>
          <a:ln w="6350">
            <a:solidFill>
              <a:srgbClr val="1A332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971800" y="3264408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All Malaysia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4754880" y="3264408"/>
            <a:ext cx="1371600" cy="402336"/>
          </a:xfrm>
          <a:prstGeom prst="rect">
            <a:avLst/>
          </a:prstGeom>
          <a:solidFill>
            <a:srgbClr val="0F1C14"/>
          </a:solidFill>
          <a:ln w="6350">
            <a:solidFill>
              <a:srgbClr val="1A332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800600" y="3264408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E795"/>
                </a:solidFill>
              </a:rPr>
              <a:t>2.310</a:t>
            </a:r>
            <a:endParaRPr lang="en-US" sz="1100" dirty="0"/>
          </a:p>
        </p:txBody>
      </p:sp>
      <p:sp>
        <p:nvSpPr>
          <p:cNvPr id="62" name="Shape 60"/>
          <p:cNvSpPr/>
          <p:nvPr/>
        </p:nvSpPr>
        <p:spPr>
          <a:xfrm>
            <a:off x="6126480" y="3264408"/>
            <a:ext cx="1280160" cy="402336"/>
          </a:xfrm>
          <a:prstGeom prst="rect">
            <a:avLst/>
          </a:prstGeom>
          <a:solidFill>
            <a:srgbClr val="0F1C14"/>
          </a:solidFill>
          <a:ln w="6350">
            <a:solidFill>
              <a:srgbClr val="1A332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172200" y="3264408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kg CO₂e/litre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7406640" y="3264408"/>
            <a:ext cx="1645920" cy="402336"/>
          </a:xfrm>
          <a:prstGeom prst="rect">
            <a:avLst/>
          </a:prstGeom>
          <a:solidFill>
            <a:srgbClr val="0F1C14"/>
          </a:solidFill>
          <a:ln w="6350">
            <a:solidFill>
              <a:srgbClr val="1A332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452360" y="3264408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896"/>
                </a:solidFill>
              </a:rPr>
              <a:t>Scope 1</a:t>
            </a:r>
            <a:endParaRPr lang="en-US" sz="1100" dirty="0"/>
          </a:p>
        </p:txBody>
      </p:sp>
      <p:sp>
        <p:nvSpPr>
          <p:cNvPr id="66" name="Shape 64"/>
          <p:cNvSpPr/>
          <p:nvPr/>
        </p:nvSpPr>
        <p:spPr>
          <a:xfrm>
            <a:off x="365760" y="3685032"/>
            <a:ext cx="2560320" cy="402336"/>
          </a:xfrm>
          <a:prstGeom prst="rect">
            <a:avLst/>
          </a:prstGeom>
          <a:solidFill>
            <a:srgbClr val="0A1510"/>
          </a:solidFill>
          <a:ln w="6350">
            <a:solidFill>
              <a:srgbClr val="1A332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11480" y="3685032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Water (IWK)</a:t>
            </a:r>
            <a:endParaRPr lang="en-US" sz="1100" dirty="0"/>
          </a:p>
        </p:txBody>
      </p:sp>
      <p:sp>
        <p:nvSpPr>
          <p:cNvPr id="68" name="Shape 66"/>
          <p:cNvSpPr/>
          <p:nvPr/>
        </p:nvSpPr>
        <p:spPr>
          <a:xfrm>
            <a:off x="2926080" y="3685032"/>
            <a:ext cx="1828800" cy="402336"/>
          </a:xfrm>
          <a:prstGeom prst="rect">
            <a:avLst/>
          </a:prstGeom>
          <a:solidFill>
            <a:srgbClr val="0A1510"/>
          </a:solidFill>
          <a:ln w="6350">
            <a:solidFill>
              <a:srgbClr val="1A332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971800" y="3685032"/>
            <a:ext cx="1737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All Malaysia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4754880" y="3685032"/>
            <a:ext cx="1371600" cy="402336"/>
          </a:xfrm>
          <a:prstGeom prst="rect">
            <a:avLst/>
          </a:prstGeom>
          <a:solidFill>
            <a:srgbClr val="0A1510"/>
          </a:solidFill>
          <a:ln w="6350">
            <a:solidFill>
              <a:srgbClr val="1A332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800600" y="3685032"/>
            <a:ext cx="12801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9E795"/>
                </a:solidFill>
              </a:rPr>
              <a:t>0.344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6126480" y="3685032"/>
            <a:ext cx="1280160" cy="402336"/>
          </a:xfrm>
          <a:prstGeom prst="rect">
            <a:avLst/>
          </a:prstGeom>
          <a:solidFill>
            <a:srgbClr val="0A1510"/>
          </a:solidFill>
          <a:ln w="6350">
            <a:solidFill>
              <a:srgbClr val="1A3326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6172200" y="3685032"/>
            <a:ext cx="11887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kg CO₂e/m³</a:t>
            </a:r>
            <a:endParaRPr lang="en-US" sz="1100" dirty="0"/>
          </a:p>
        </p:txBody>
      </p:sp>
      <p:sp>
        <p:nvSpPr>
          <p:cNvPr id="74" name="Shape 72"/>
          <p:cNvSpPr/>
          <p:nvPr/>
        </p:nvSpPr>
        <p:spPr>
          <a:xfrm>
            <a:off x="7406640" y="3685032"/>
            <a:ext cx="1645920" cy="402336"/>
          </a:xfrm>
          <a:prstGeom prst="rect">
            <a:avLst/>
          </a:prstGeom>
          <a:solidFill>
            <a:srgbClr val="0A1510"/>
          </a:solidFill>
          <a:ln w="6350">
            <a:solidFill>
              <a:srgbClr val="1A3326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452360" y="368503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0C896"/>
                </a:solidFill>
              </a:rPr>
              <a:t>Scope 3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365760" y="45720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374151"/>
                </a:solidFill>
              </a:rPr>
              <a:t>Sources: Suruhanjaya Tenaga (Energy Commission) 2022 Grid Emission Factor  ·  IPCC AR6  ·  IWK Annual Report  ·  MYCarbon Guidelines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365760" y="4846320"/>
            <a:ext cx="8412480" cy="182880"/>
          </a:xfrm>
          <a:prstGeom prst="rect">
            <a:avLst/>
          </a:prstGeom>
          <a:solidFill>
            <a:srgbClr val="001A10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65760" y="4846320"/>
            <a:ext cx="84124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896"/>
                </a:solidFill>
              </a:rPr>
              <a:t>All factors updated annually — GreenLedger always uses the most recent Malaysian regulatory data.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0E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8 / 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C896"/>
                </a:solidFill>
              </a:rPr>
              <a:t>LIVE DEMO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Real TNB Bill → Instant Carbon Report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3657600" cy="3657600"/>
          </a:xfrm>
          <a:prstGeom prst="rect">
            <a:avLst/>
          </a:prstGeom>
          <a:solidFill>
            <a:srgbClr val="0F1C14"/>
          </a:solidFill>
          <a:ln w="12700">
            <a:solidFill>
              <a:srgbClr val="1A332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88720"/>
            <a:ext cx="3657600" cy="5029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801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C896"/>
                </a:solidFill>
              </a:rPr>
              <a:t>✓  TNB Bhd Processed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1554480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Jan 2025 · Electricity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1828800"/>
            <a:ext cx="1371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374151"/>
                </a:solidFill>
              </a:rPr>
              <a:t>Item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783080" y="182880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100" kern="0" dirty="0">
                <a:solidFill>
                  <a:srgbClr val="374151"/>
                </a:solidFill>
              </a:rPr>
              <a:t>Qty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423160" y="182880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100" kern="0" dirty="0">
                <a:solidFill>
                  <a:srgbClr val="374151"/>
                </a:solidFill>
              </a:rPr>
              <a:t>Factor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3337560" y="182880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spc="100" kern="0" dirty="0">
                <a:solidFill>
                  <a:srgbClr val="374151"/>
                </a:solidFill>
              </a:rPr>
              <a:t>CO₂e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411480" y="2029968"/>
            <a:ext cx="3474720" cy="0"/>
          </a:xfrm>
          <a:prstGeom prst="line">
            <a:avLst/>
          </a:prstGeom>
          <a:noFill/>
          <a:ln w="12700">
            <a:solidFill>
              <a:srgbClr val="1A33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10312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TNB Electricity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783080" y="21031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161 kWh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2423160" y="210312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0.5850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337560" y="2103120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C896"/>
                </a:solidFill>
              </a:rPr>
              <a:t>94.2 kg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1480" y="2450592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Admin Charge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783080" y="245059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1 unit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423160" y="2450592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—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337560" y="2450592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—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11480" y="2798064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Renewable Energy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783080" y="2798064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1 unit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2423160" y="2798064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—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337560" y="2798064"/>
            <a:ext cx="640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—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11480" y="3163824"/>
            <a:ext cx="3474720" cy="0"/>
          </a:xfrm>
          <a:prstGeom prst="line">
            <a:avLst/>
          </a:prstGeom>
          <a:noFill/>
          <a:ln w="12700">
            <a:solidFill>
              <a:srgbClr val="1A332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321868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Total this receipt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02920" y="32186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94.2 kg CO₂e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11480" y="3566160"/>
            <a:ext cx="3474720" cy="0"/>
          </a:xfrm>
          <a:prstGeom prst="line">
            <a:avLst/>
          </a:prstGeom>
          <a:noFill/>
          <a:ln w="12700">
            <a:solidFill>
              <a:srgbClr val="1A3326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02920" y="3675888"/>
            <a:ext cx="640080" cy="219456"/>
          </a:xfrm>
          <a:prstGeom prst="rect">
            <a:avLst/>
          </a:prstGeom>
          <a:solidFill>
            <a:srgbClr val="00271C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3675888"/>
            <a:ext cx="6400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00C896"/>
                </a:solidFill>
              </a:rPr>
              <a:t>Scope 2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234440" y="3694176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374151"/>
                </a:solidFill>
              </a:rPr>
              <a:t>Source: ST Grid Factor 2022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502920" y="397764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00C896"/>
                </a:solidFill>
              </a:rPr>
              <a:t>AI RECOMMENDATIONS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38912" y="4224528"/>
            <a:ext cx="201168" cy="201168"/>
          </a:xfrm>
          <a:prstGeom prst="rect">
            <a:avLst/>
          </a:prstGeom>
          <a:solidFill>
            <a:srgbClr val="00271C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8912" y="422452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896"/>
                </a:solidFill>
              </a:rPr>
              <a:t>1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694944" y="422452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Install LED lighting → saves 12 kg CO₂e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38912" y="4224528"/>
            <a:ext cx="201168" cy="201168"/>
          </a:xfrm>
          <a:prstGeom prst="rect">
            <a:avLst/>
          </a:prstGeom>
          <a:solidFill>
            <a:srgbClr val="00271C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38912" y="4462272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896"/>
                </a:solidFill>
              </a:rPr>
              <a:t>2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94944" y="4462272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Apply for Tariff D (commercial) → saves RM 35/mo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438912" y="4224528"/>
            <a:ext cx="201168" cy="201168"/>
          </a:xfrm>
          <a:prstGeom prst="rect">
            <a:avLst/>
          </a:prstGeom>
          <a:solidFill>
            <a:srgbClr val="00271C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38912" y="4700016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C896"/>
                </a:solidFill>
              </a:rPr>
              <a:t>3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94944" y="470001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CA3AF"/>
                </a:solidFill>
              </a:rPr>
              <a:t>Enable TNB green tariff → offset 20% emissions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480560" y="1188720"/>
            <a:ext cx="4206240" cy="987552"/>
          </a:xfrm>
          <a:prstGeom prst="rect">
            <a:avLst/>
          </a:prstGeom>
          <a:solidFill>
            <a:srgbClr val="0F1C14"/>
          </a:solidFill>
          <a:ln w="12700">
            <a:solidFill>
              <a:srgbClr val="1A332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480560" y="1188720"/>
            <a:ext cx="54864" cy="98755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617720" y="1298448"/>
            <a:ext cx="4023360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C896"/>
                </a:solidFill>
              </a:rPr>
              <a:t>94.2</a:t>
            </a:r>
            <a:endParaRPr lang="en-US" sz="3200" dirty="0"/>
          </a:p>
        </p:txBody>
      </p:sp>
      <p:sp>
        <p:nvSpPr>
          <p:cNvPr id="47" name="Text 45"/>
          <p:cNvSpPr/>
          <p:nvPr/>
        </p:nvSpPr>
        <p:spPr>
          <a:xfrm>
            <a:off x="4617720" y="173187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kg CO₂e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617720" y="196047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from one electricity bill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4480560" y="2267712"/>
            <a:ext cx="4206240" cy="987552"/>
          </a:xfrm>
          <a:prstGeom prst="rect">
            <a:avLst/>
          </a:prstGeom>
          <a:solidFill>
            <a:srgbClr val="0F1C14"/>
          </a:solidFill>
          <a:ln w="12700">
            <a:solidFill>
              <a:srgbClr val="1A332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480560" y="2267712"/>
            <a:ext cx="54864" cy="98755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617720" y="2377440"/>
            <a:ext cx="4023360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C896"/>
                </a:solidFill>
              </a:rPr>
              <a:t>&lt;30</a:t>
            </a:r>
            <a:endParaRPr lang="en-US" sz="3200" dirty="0"/>
          </a:p>
        </p:txBody>
      </p:sp>
      <p:sp>
        <p:nvSpPr>
          <p:cNvPr id="52" name="Text 50"/>
          <p:cNvSpPr/>
          <p:nvPr/>
        </p:nvSpPr>
        <p:spPr>
          <a:xfrm>
            <a:off x="4617720" y="281086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seconds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4617720" y="3039466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upload to full report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4480560" y="3346704"/>
            <a:ext cx="4206240" cy="987552"/>
          </a:xfrm>
          <a:prstGeom prst="rect">
            <a:avLst/>
          </a:prstGeom>
          <a:solidFill>
            <a:srgbClr val="0F1C14"/>
          </a:solidFill>
          <a:ln w="12700">
            <a:solidFill>
              <a:srgbClr val="1A332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55" name="Shape 53"/>
          <p:cNvSpPr/>
          <p:nvPr/>
        </p:nvSpPr>
        <p:spPr>
          <a:xfrm>
            <a:off x="4480560" y="3346704"/>
            <a:ext cx="54864" cy="98755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617720" y="3456432"/>
            <a:ext cx="4023360" cy="5431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C896"/>
                </a:solidFill>
              </a:rPr>
              <a:t>RM 35</a:t>
            </a:r>
            <a:endParaRPr lang="en-US" sz="3200" dirty="0"/>
          </a:p>
        </p:txBody>
      </p:sp>
      <p:sp>
        <p:nvSpPr>
          <p:cNvPr id="57" name="Text 55"/>
          <p:cNvSpPr/>
          <p:nvPr/>
        </p:nvSpPr>
        <p:spPr>
          <a:xfrm>
            <a:off x="4617720" y="388985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/month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4617720" y="411845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savings identified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4480560" y="4425696"/>
            <a:ext cx="4206240" cy="566928"/>
          </a:xfrm>
          <a:prstGeom prst="rect">
            <a:avLst/>
          </a:prstGeom>
          <a:solidFill>
            <a:srgbClr val="001A10"/>
          </a:solidFill>
          <a:ln w="12700">
            <a:solidFill>
              <a:srgbClr val="00C89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60" name="Text 58"/>
          <p:cNvSpPr/>
          <p:nvPr/>
        </p:nvSpPr>
        <p:spPr>
          <a:xfrm>
            <a:off x="4617720" y="4425696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i="1" dirty="0">
                <a:solidFill>
                  <a:srgbClr val="00C896"/>
                </a:solidFill>
              </a:rPr>
              <a:t>Tested with a real February 2025 TNB residential bill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i="1" dirty="0">
                <a:solidFill>
                  <a:srgbClr val="00C896"/>
                </a:solidFill>
              </a:rPr>
              <a:t>— all figures reflect actual Claude Vision AI output.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80E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9 / 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C896"/>
                </a:solidFill>
              </a:rPr>
              <a:t>MARKET OPPORTUNITY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 Market That Must Comply — Ready to Pay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2743200" cy="1371600"/>
          </a:xfrm>
          <a:prstGeom prst="rect">
            <a:avLst/>
          </a:prstGeom>
          <a:solidFill>
            <a:srgbClr val="0F1C14"/>
          </a:solidFill>
          <a:ln w="12700">
            <a:solidFill>
              <a:srgbClr val="1A332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88720"/>
            <a:ext cx="54864" cy="13716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98448"/>
            <a:ext cx="256032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C896"/>
                </a:solidFill>
              </a:rPr>
              <a:t>1.2M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02920" y="19431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Malaysian SMEs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1717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total addressable market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91840" y="1188720"/>
            <a:ext cx="2743200" cy="1371600"/>
          </a:xfrm>
          <a:prstGeom prst="rect">
            <a:avLst/>
          </a:prstGeom>
          <a:solidFill>
            <a:srgbClr val="0F1C14"/>
          </a:solidFill>
          <a:ln w="12700">
            <a:solidFill>
              <a:srgbClr val="1A332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91840" y="1188720"/>
            <a:ext cx="54864" cy="1371600"/>
          </a:xfrm>
          <a:prstGeom prst="rect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1298448"/>
            <a:ext cx="256032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9E795"/>
                </a:solidFill>
              </a:rPr>
              <a:t>RM 9B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3429000" y="19431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export risk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29000" y="21717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palm oil + timber EUDR exposure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1188720"/>
            <a:ext cx="2743200" cy="1371600"/>
          </a:xfrm>
          <a:prstGeom prst="rect">
            <a:avLst/>
          </a:prstGeom>
          <a:solidFill>
            <a:srgbClr val="0F1C14"/>
          </a:solidFill>
          <a:ln w="12700">
            <a:solidFill>
              <a:srgbClr val="1A332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217920" y="1188720"/>
            <a:ext cx="54864" cy="137160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355080" y="1298448"/>
            <a:ext cx="2560320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0A5FA"/>
                </a:solidFill>
              </a:rPr>
              <a:t>USD 8B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6355080" y="19431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market size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55080" y="21717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global SME carbon software by 2030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2788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Target Segments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365760" y="3154680"/>
            <a:ext cx="4572000" cy="548640"/>
          </a:xfrm>
          <a:prstGeom prst="rect">
            <a:avLst/>
          </a:prstGeom>
          <a:solidFill>
            <a:srgbClr val="0F1C14"/>
          </a:solidFill>
          <a:ln w="12700">
            <a:solidFill>
              <a:srgbClr val="1A332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365760" y="3154680"/>
            <a:ext cx="54864" cy="54864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" y="324612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Manufacturing SMEs (~180,000 companies)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3776" y="3502152"/>
            <a:ext cx="4389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Highest energy bills, most regulatory pressure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3776472"/>
            <a:ext cx="4572000" cy="548640"/>
          </a:xfrm>
          <a:prstGeom prst="rect">
            <a:avLst/>
          </a:prstGeom>
          <a:solidFill>
            <a:srgbClr val="0F1C14"/>
          </a:solidFill>
          <a:ln w="12700">
            <a:solidFill>
              <a:srgbClr val="1A332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65760" y="3776472"/>
            <a:ext cx="54864" cy="54864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" y="3867912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Palm Oil / Agri SMEs (~250,000 smallholders)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3776" y="4123944"/>
            <a:ext cx="4389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EUDR compliance is existential — needs carbon proof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4398264"/>
            <a:ext cx="4572000" cy="548640"/>
          </a:xfrm>
          <a:prstGeom prst="rect">
            <a:avLst/>
          </a:prstGeom>
          <a:solidFill>
            <a:srgbClr val="0F1C14"/>
          </a:solidFill>
          <a:ln w="12700">
            <a:solidFill>
              <a:srgbClr val="1A332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65760" y="4398264"/>
            <a:ext cx="54864" cy="54864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" y="4489704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F&amp;B / Retail SMEs (~400,000 companies)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93776" y="4745736"/>
            <a:ext cx="4389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ESG reporting now required by GLC supply chains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212080" y="1188720"/>
            <a:ext cx="3474720" cy="3520440"/>
          </a:xfrm>
          <a:prstGeom prst="rect">
            <a:avLst/>
          </a:prstGeom>
          <a:solidFill>
            <a:srgbClr val="0F1C14"/>
          </a:solidFill>
          <a:ln w="12700">
            <a:solidFill>
              <a:srgbClr val="1A332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212080" y="1188720"/>
            <a:ext cx="3474720" cy="5029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303520" y="128016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Go-To-Market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5303520" y="1737360"/>
            <a:ext cx="548640" cy="256032"/>
          </a:xfrm>
          <a:prstGeom prst="rect">
            <a:avLst/>
          </a:prstGeom>
          <a:solidFill>
            <a:srgbClr val="00C896">
              <a:alpha val="25000"/>
            </a:srgbClr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303520" y="173736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C896"/>
                </a:solidFill>
              </a:rPr>
              <a:t>Phase 1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943600" y="171907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University &amp; Enactus network — 20 pilot SMEs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303520" y="2450592"/>
            <a:ext cx="548640" cy="256032"/>
          </a:xfrm>
          <a:prstGeom prst="rect">
            <a:avLst/>
          </a:prstGeom>
          <a:solidFill>
            <a:srgbClr val="00C896">
              <a:alpha val="25000"/>
            </a:srgbClr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303520" y="245059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C896"/>
                </a:solidFill>
              </a:rPr>
              <a:t>Phase 2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5943600" y="243230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MDEC Digital SME programme partnership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303520" y="3163824"/>
            <a:ext cx="548640" cy="256032"/>
          </a:xfrm>
          <a:prstGeom prst="rect">
            <a:avLst/>
          </a:prstGeom>
          <a:solidFill>
            <a:srgbClr val="00C896">
              <a:alpha val="25000"/>
            </a:srgbClr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303520" y="316382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C896"/>
                </a:solidFill>
              </a:rPr>
              <a:t>Phase 3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5943600" y="3145536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DOSM, MITI regulatory referral channel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5303520" y="3877056"/>
            <a:ext cx="548640" cy="256032"/>
          </a:xfrm>
          <a:prstGeom prst="rect">
            <a:avLst/>
          </a:prstGeom>
          <a:solidFill>
            <a:srgbClr val="00C896">
              <a:alpha val="25000"/>
            </a:srgbClr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303520" y="387705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0C896"/>
                </a:solidFill>
              </a:rPr>
              <a:t>Phase 4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5943600" y="3858768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Freemium → RM 99/mo SaaS subscription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80E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10 / 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C896"/>
                </a:solidFill>
              </a:rPr>
              <a:t>IMPACT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1,000 SMEs Using GreenLedger Looks Like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365760" y="1280160"/>
            <a:ext cx="4160520" cy="1600200"/>
          </a:xfrm>
          <a:prstGeom prst="rect">
            <a:avLst/>
          </a:prstGeom>
          <a:solidFill>
            <a:srgbClr val="0F1C14"/>
          </a:solidFill>
          <a:ln w="12700">
            <a:solidFill>
              <a:srgbClr val="1A332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280160"/>
            <a:ext cx="54864" cy="160020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89888"/>
            <a:ext cx="3977640" cy="880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0C896"/>
                </a:solidFill>
              </a:rPr>
              <a:t>1,200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502920" y="216027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tonnes CO₂e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238887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identified per month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(avg 1.2t per SME)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280160"/>
            <a:ext cx="4160520" cy="1600200"/>
          </a:xfrm>
          <a:prstGeom prst="rect">
            <a:avLst/>
          </a:prstGeom>
          <a:solidFill>
            <a:srgbClr val="0F1C14"/>
          </a:solidFill>
          <a:ln w="12700">
            <a:solidFill>
              <a:srgbClr val="1A332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280160"/>
            <a:ext cx="54864" cy="1600200"/>
          </a:xfrm>
          <a:prstGeom prst="rect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389888"/>
            <a:ext cx="3977640" cy="880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9E795"/>
                </a:solidFill>
              </a:rPr>
              <a:t>RM 1.8M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4892040" y="216027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per month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892040" y="238887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cost savings surfaced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(avg RM 1,800/SME)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65760" y="3108960"/>
            <a:ext cx="4160520" cy="1600200"/>
          </a:xfrm>
          <a:prstGeom prst="rect">
            <a:avLst/>
          </a:prstGeom>
          <a:solidFill>
            <a:srgbClr val="0F1C14"/>
          </a:solidFill>
          <a:ln w="12700">
            <a:solidFill>
              <a:srgbClr val="1A332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108960"/>
            <a:ext cx="54864" cy="1600200"/>
          </a:xfrm>
          <a:prstGeom prst="rect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218688"/>
            <a:ext cx="3977640" cy="880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60A5FA"/>
                </a:solidFill>
              </a:rPr>
              <a:t>100%</a:t>
            </a:r>
            <a:endParaRPr lang="en-US" sz="3200" dirty="0"/>
          </a:p>
        </p:txBody>
      </p:sp>
      <p:sp>
        <p:nvSpPr>
          <p:cNvPr id="19" name="Text 17"/>
          <p:cNvSpPr/>
          <p:nvPr/>
        </p:nvSpPr>
        <p:spPr>
          <a:xfrm>
            <a:off x="502920" y="398907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visibility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02920" y="421767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carbon footprint known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for first time ever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3108960"/>
            <a:ext cx="4160520" cy="1600200"/>
          </a:xfrm>
          <a:prstGeom prst="rect">
            <a:avLst/>
          </a:prstGeom>
          <a:solidFill>
            <a:srgbClr val="0F1C14"/>
          </a:solidFill>
          <a:ln w="12700">
            <a:solidFill>
              <a:srgbClr val="1A332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3108960"/>
            <a:ext cx="54864" cy="1600200"/>
          </a:xfrm>
          <a:prstGeom prst="rect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92040" y="3218688"/>
            <a:ext cx="3977640" cy="88011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6B6B"/>
                </a:solidFill>
              </a:rPr>
              <a:t>3 sec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4892040" y="398907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per bill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892040" y="4217670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vs 3 hours manual entry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99.9% time saved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001A10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C896"/>
                </a:solidFill>
              </a:rPr>
              <a:t>Aligned with UN SDGs:  13 Climate Action  ·  12 Responsible Consumption  ·  8 Decent Work &amp; Growth  ·  17 Partnerships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0E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11 / 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C896"/>
                </a:solidFill>
              </a:rPr>
              <a:t>COMPETITIVE ADVANTAGE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Why GreenLedger Wins in Malaysia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228600" y="1234440"/>
            <a:ext cx="2377440" cy="438912"/>
          </a:xfrm>
          <a:prstGeom prst="rect">
            <a:avLst/>
          </a:prstGeom>
          <a:solidFill>
            <a:srgbClr val="1A2620"/>
          </a:solidFill>
          <a:ln w="12700">
            <a:solidFill>
              <a:srgbClr val="1A332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1234440"/>
            <a:ext cx="2377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Feature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1234440"/>
            <a:ext cx="1645920" cy="438912"/>
          </a:xfrm>
          <a:prstGeom prst="rect">
            <a:avLst/>
          </a:prstGeom>
          <a:solidFill>
            <a:srgbClr val="00C896"/>
          </a:solidFill>
          <a:ln w="12700">
            <a:solidFill>
              <a:srgbClr val="1A332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06040" y="123444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80E0B"/>
                </a:solidFill>
              </a:rPr>
              <a:t>GreenLedger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251960" y="1234440"/>
            <a:ext cx="1645920" cy="438912"/>
          </a:xfrm>
          <a:prstGeom prst="rect">
            <a:avLst/>
          </a:prstGeom>
          <a:solidFill>
            <a:srgbClr val="1A2620"/>
          </a:solidFill>
          <a:ln w="12700">
            <a:solidFill>
              <a:srgbClr val="1A332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51960" y="123444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Manual Excel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97880" y="1234440"/>
            <a:ext cx="1645920" cy="438912"/>
          </a:xfrm>
          <a:prstGeom prst="rect">
            <a:avLst/>
          </a:prstGeom>
          <a:solidFill>
            <a:srgbClr val="1A2620"/>
          </a:solidFill>
          <a:ln w="12700">
            <a:solidFill>
              <a:srgbClr val="1A332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97880" y="123444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Global Tools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(e.g. Persefoni)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543800" y="1234440"/>
            <a:ext cx="1645920" cy="438912"/>
          </a:xfrm>
          <a:prstGeom prst="rect">
            <a:avLst/>
          </a:prstGeom>
          <a:solidFill>
            <a:srgbClr val="1A2620"/>
          </a:solidFill>
          <a:ln w="12700">
            <a:solidFill>
              <a:srgbClr val="1A332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43800" y="1234440"/>
            <a:ext cx="1645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Consultants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1673352"/>
            <a:ext cx="2377440" cy="402336"/>
          </a:xfrm>
          <a:prstGeom prst="rect">
            <a:avLst/>
          </a:prstGeom>
          <a:solidFill>
            <a:srgbClr val="0F1C14"/>
          </a:solidFill>
          <a:ln w="6350">
            <a:solidFill>
              <a:srgbClr val="1A33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167335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Malaysian emission factors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2606040" y="1673352"/>
            <a:ext cx="1645920" cy="402336"/>
          </a:xfrm>
          <a:prstGeom prst="rect">
            <a:avLst/>
          </a:prstGeom>
          <a:solidFill>
            <a:srgbClr val="001A10"/>
          </a:solidFill>
          <a:ln w="6350">
            <a:solidFill>
              <a:srgbClr val="1A332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651760" y="167335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C896"/>
                </a:solidFill>
              </a:rPr>
              <a:t>✓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251960" y="1673352"/>
            <a:ext cx="1645920" cy="402336"/>
          </a:xfrm>
          <a:prstGeom prst="rect">
            <a:avLst/>
          </a:prstGeom>
          <a:solidFill>
            <a:srgbClr val="0F1C14"/>
          </a:solidFill>
          <a:ln w="6350">
            <a:solidFill>
              <a:srgbClr val="1A332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97680" y="167335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6B6B"/>
                </a:solidFill>
              </a:rPr>
              <a:t>✗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897880" y="1673352"/>
            <a:ext cx="1645920" cy="402336"/>
          </a:xfrm>
          <a:prstGeom prst="rect">
            <a:avLst/>
          </a:prstGeom>
          <a:solidFill>
            <a:srgbClr val="0F1C14"/>
          </a:solidFill>
          <a:ln w="6350">
            <a:solidFill>
              <a:srgbClr val="1A332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0" y="167335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6B6B"/>
                </a:solidFill>
              </a:rPr>
              <a:t>✗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543800" y="1673352"/>
            <a:ext cx="1645920" cy="402336"/>
          </a:xfrm>
          <a:prstGeom prst="rect">
            <a:avLst/>
          </a:prstGeom>
          <a:solidFill>
            <a:srgbClr val="0F1C14"/>
          </a:solidFill>
          <a:ln w="6350">
            <a:solidFill>
              <a:srgbClr val="1A332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89520" y="167335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custom quote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228600" y="2093976"/>
            <a:ext cx="2377440" cy="402336"/>
          </a:xfrm>
          <a:prstGeom prst="rect">
            <a:avLst/>
          </a:prstGeom>
          <a:solidFill>
            <a:srgbClr val="0A1510"/>
          </a:solidFill>
          <a:ln w="6350">
            <a:solidFill>
              <a:srgbClr val="1A3326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74320" y="2093976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AI bill reading (Vision AI)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606040" y="2093976"/>
            <a:ext cx="1645920" cy="402336"/>
          </a:xfrm>
          <a:prstGeom prst="rect">
            <a:avLst/>
          </a:prstGeom>
          <a:solidFill>
            <a:srgbClr val="001A10"/>
          </a:solidFill>
          <a:ln w="6350">
            <a:solidFill>
              <a:srgbClr val="1A332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651760" y="2093976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C896"/>
                </a:solidFill>
              </a:rPr>
              <a:t>✓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251960" y="2093976"/>
            <a:ext cx="1645920" cy="402336"/>
          </a:xfrm>
          <a:prstGeom prst="rect">
            <a:avLst/>
          </a:prstGeom>
          <a:solidFill>
            <a:srgbClr val="0A1510"/>
          </a:solidFill>
          <a:ln w="6350">
            <a:solidFill>
              <a:srgbClr val="1A332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297680" y="2093976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6B6B"/>
                </a:solidFill>
              </a:rPr>
              <a:t>✗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897880" y="2093976"/>
            <a:ext cx="1645920" cy="402336"/>
          </a:xfrm>
          <a:prstGeom prst="rect">
            <a:avLst/>
          </a:prstGeom>
          <a:solidFill>
            <a:srgbClr val="0A1510"/>
          </a:solidFill>
          <a:ln w="6350">
            <a:solidFill>
              <a:srgbClr val="1A332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0" y="2093976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limited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543800" y="2093976"/>
            <a:ext cx="1645920" cy="402336"/>
          </a:xfrm>
          <a:prstGeom prst="rect">
            <a:avLst/>
          </a:prstGeom>
          <a:solidFill>
            <a:srgbClr val="0A1510"/>
          </a:solidFill>
          <a:ln w="6350">
            <a:solidFill>
              <a:srgbClr val="1A332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589520" y="2093976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6B6B"/>
                </a:solidFill>
              </a:rPr>
              <a:t>✗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28600" y="2514600"/>
            <a:ext cx="2377440" cy="402336"/>
          </a:xfrm>
          <a:prstGeom prst="rect">
            <a:avLst/>
          </a:prstGeom>
          <a:solidFill>
            <a:srgbClr val="0F1C14"/>
          </a:solidFill>
          <a:ln w="6350">
            <a:solidFill>
              <a:srgbClr val="1A332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74320" y="2514600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Setup time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2606040" y="2514600"/>
            <a:ext cx="1645920" cy="402336"/>
          </a:xfrm>
          <a:prstGeom prst="rect">
            <a:avLst/>
          </a:prstGeom>
          <a:solidFill>
            <a:srgbClr val="001A10"/>
          </a:solidFill>
          <a:ln w="6350">
            <a:solidFill>
              <a:srgbClr val="1A332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2651760" y="2514600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C896"/>
                </a:solidFill>
              </a:rPr>
              <a:t>&lt;1 min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4251960" y="2514600"/>
            <a:ext cx="1645920" cy="402336"/>
          </a:xfrm>
          <a:prstGeom prst="rect">
            <a:avLst/>
          </a:prstGeom>
          <a:solidFill>
            <a:srgbClr val="0F1C14"/>
          </a:solidFill>
          <a:ln w="6350">
            <a:solidFill>
              <a:srgbClr val="1A332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297680" y="2514600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hours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897880" y="2514600"/>
            <a:ext cx="1645920" cy="402336"/>
          </a:xfrm>
          <a:prstGeom prst="rect">
            <a:avLst/>
          </a:prstGeom>
          <a:solidFill>
            <a:srgbClr val="0F1C14"/>
          </a:solidFill>
          <a:ln w="6350">
            <a:solidFill>
              <a:srgbClr val="1A332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943600" y="2514600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weeks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7543800" y="2514600"/>
            <a:ext cx="1645920" cy="402336"/>
          </a:xfrm>
          <a:prstGeom prst="rect">
            <a:avLst/>
          </a:prstGeom>
          <a:solidFill>
            <a:srgbClr val="0F1C14"/>
          </a:solidFill>
          <a:ln w="6350">
            <a:solidFill>
              <a:srgbClr val="1A332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589520" y="2514600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months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228600" y="2935224"/>
            <a:ext cx="2377440" cy="402336"/>
          </a:xfrm>
          <a:prstGeom prst="rect">
            <a:avLst/>
          </a:prstGeom>
          <a:solidFill>
            <a:srgbClr val="0A1510"/>
          </a:solidFill>
          <a:ln w="6350">
            <a:solidFill>
              <a:srgbClr val="1A332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274320" y="2935224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Cost per month</a:t>
            </a:r>
            <a:endParaRPr lang="en-US" sz="1050" dirty="0"/>
          </a:p>
        </p:txBody>
      </p:sp>
      <p:sp>
        <p:nvSpPr>
          <p:cNvPr id="48" name="Shape 46"/>
          <p:cNvSpPr/>
          <p:nvPr/>
        </p:nvSpPr>
        <p:spPr>
          <a:xfrm>
            <a:off x="2606040" y="2935224"/>
            <a:ext cx="1645920" cy="402336"/>
          </a:xfrm>
          <a:prstGeom prst="rect">
            <a:avLst/>
          </a:prstGeom>
          <a:solidFill>
            <a:srgbClr val="001A10"/>
          </a:solidFill>
          <a:ln w="6350">
            <a:solidFill>
              <a:srgbClr val="1A3326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2651760" y="2935224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C896"/>
                </a:solidFill>
              </a:rPr>
              <a:t>Free / RM 99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4251960" y="2935224"/>
            <a:ext cx="1645920" cy="402336"/>
          </a:xfrm>
          <a:prstGeom prst="rect">
            <a:avLst/>
          </a:prstGeom>
          <a:solidFill>
            <a:srgbClr val="0A1510"/>
          </a:solidFill>
          <a:ln w="6350">
            <a:solidFill>
              <a:srgbClr val="1A3326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297680" y="2935224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RM 0 (time++)</a:t>
            </a:r>
            <a:endParaRPr lang="en-US" sz="1050" dirty="0"/>
          </a:p>
        </p:txBody>
      </p:sp>
      <p:sp>
        <p:nvSpPr>
          <p:cNvPr id="52" name="Shape 50"/>
          <p:cNvSpPr/>
          <p:nvPr/>
        </p:nvSpPr>
        <p:spPr>
          <a:xfrm>
            <a:off x="5897880" y="2935224"/>
            <a:ext cx="1645920" cy="402336"/>
          </a:xfrm>
          <a:prstGeom prst="rect">
            <a:avLst/>
          </a:prstGeom>
          <a:solidFill>
            <a:srgbClr val="0A1510"/>
          </a:solidFill>
          <a:ln w="6350">
            <a:solidFill>
              <a:srgbClr val="1A3326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943600" y="2935224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USD 1,000+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7543800" y="2935224"/>
            <a:ext cx="1645920" cy="402336"/>
          </a:xfrm>
          <a:prstGeom prst="rect">
            <a:avLst/>
          </a:prstGeom>
          <a:solidFill>
            <a:srgbClr val="0A1510"/>
          </a:solidFill>
          <a:ln w="6350">
            <a:solidFill>
              <a:srgbClr val="1A3326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589520" y="2935224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RM 5,000+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228600" y="3355848"/>
            <a:ext cx="2377440" cy="402336"/>
          </a:xfrm>
          <a:prstGeom prst="rect">
            <a:avLst/>
          </a:prstGeom>
          <a:solidFill>
            <a:srgbClr val="0F1C14"/>
          </a:solidFill>
          <a:ln w="6350">
            <a:solidFill>
              <a:srgbClr val="1A3326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74320" y="3355848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GHG Protocol scope</a:t>
            </a:r>
            <a:endParaRPr lang="en-US" sz="1050" dirty="0"/>
          </a:p>
        </p:txBody>
      </p:sp>
      <p:sp>
        <p:nvSpPr>
          <p:cNvPr id="58" name="Shape 56"/>
          <p:cNvSpPr/>
          <p:nvPr/>
        </p:nvSpPr>
        <p:spPr>
          <a:xfrm>
            <a:off x="2606040" y="3355848"/>
            <a:ext cx="1645920" cy="402336"/>
          </a:xfrm>
          <a:prstGeom prst="rect">
            <a:avLst/>
          </a:prstGeom>
          <a:solidFill>
            <a:srgbClr val="001A10"/>
          </a:solidFill>
          <a:ln w="6350">
            <a:solidFill>
              <a:srgbClr val="1A3326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651760" y="3355848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C896"/>
                </a:solidFill>
              </a:rPr>
              <a:t>✓</a:t>
            </a:r>
            <a:endParaRPr lang="en-US" sz="1050" dirty="0"/>
          </a:p>
        </p:txBody>
      </p:sp>
      <p:sp>
        <p:nvSpPr>
          <p:cNvPr id="60" name="Shape 58"/>
          <p:cNvSpPr/>
          <p:nvPr/>
        </p:nvSpPr>
        <p:spPr>
          <a:xfrm>
            <a:off x="4251960" y="3355848"/>
            <a:ext cx="1645920" cy="402336"/>
          </a:xfrm>
          <a:prstGeom prst="rect">
            <a:avLst/>
          </a:prstGeom>
          <a:solidFill>
            <a:srgbClr val="0F1C14"/>
          </a:solidFill>
          <a:ln w="6350">
            <a:solidFill>
              <a:srgbClr val="1A3326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297680" y="3355848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manual</a:t>
            </a:r>
            <a:endParaRPr lang="en-US" sz="1050" dirty="0"/>
          </a:p>
        </p:txBody>
      </p:sp>
      <p:sp>
        <p:nvSpPr>
          <p:cNvPr id="62" name="Shape 60"/>
          <p:cNvSpPr/>
          <p:nvPr/>
        </p:nvSpPr>
        <p:spPr>
          <a:xfrm>
            <a:off x="5897880" y="3355848"/>
            <a:ext cx="1645920" cy="402336"/>
          </a:xfrm>
          <a:prstGeom prst="rect">
            <a:avLst/>
          </a:prstGeom>
          <a:solidFill>
            <a:srgbClr val="0F1C14"/>
          </a:solidFill>
          <a:ln w="6350">
            <a:solidFill>
              <a:srgbClr val="1A3326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943600" y="3355848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C896"/>
                </a:solidFill>
              </a:rPr>
              <a:t>✓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7543800" y="3355848"/>
            <a:ext cx="1645920" cy="402336"/>
          </a:xfrm>
          <a:prstGeom prst="rect">
            <a:avLst/>
          </a:prstGeom>
          <a:solidFill>
            <a:srgbClr val="0F1C14"/>
          </a:solidFill>
          <a:ln w="6350">
            <a:solidFill>
              <a:srgbClr val="1A3326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7589520" y="3355848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C896"/>
                </a:solidFill>
              </a:rPr>
              <a:t>✓</a:t>
            </a:r>
            <a:endParaRPr lang="en-US" sz="1050" dirty="0"/>
          </a:p>
        </p:txBody>
      </p:sp>
      <p:sp>
        <p:nvSpPr>
          <p:cNvPr id="66" name="Shape 64"/>
          <p:cNvSpPr/>
          <p:nvPr/>
        </p:nvSpPr>
        <p:spPr>
          <a:xfrm>
            <a:off x="228600" y="3776472"/>
            <a:ext cx="2377440" cy="402336"/>
          </a:xfrm>
          <a:prstGeom prst="rect">
            <a:avLst/>
          </a:prstGeom>
          <a:solidFill>
            <a:srgbClr val="0A1510"/>
          </a:solidFill>
          <a:ln w="6350">
            <a:solidFill>
              <a:srgbClr val="1A3326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74320" y="3776472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Recommendations (RM savings)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2606040" y="3776472"/>
            <a:ext cx="1645920" cy="402336"/>
          </a:xfrm>
          <a:prstGeom prst="rect">
            <a:avLst/>
          </a:prstGeom>
          <a:solidFill>
            <a:srgbClr val="001A10"/>
          </a:solidFill>
          <a:ln w="6350">
            <a:solidFill>
              <a:srgbClr val="1A3326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2651760" y="377647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C896"/>
                </a:solidFill>
              </a:rPr>
              <a:t>✓</a:t>
            </a:r>
            <a:endParaRPr lang="en-US" sz="1050" dirty="0"/>
          </a:p>
        </p:txBody>
      </p:sp>
      <p:sp>
        <p:nvSpPr>
          <p:cNvPr id="70" name="Shape 68"/>
          <p:cNvSpPr/>
          <p:nvPr/>
        </p:nvSpPr>
        <p:spPr>
          <a:xfrm>
            <a:off x="4251960" y="3776472"/>
            <a:ext cx="1645920" cy="402336"/>
          </a:xfrm>
          <a:prstGeom prst="rect">
            <a:avLst/>
          </a:prstGeom>
          <a:solidFill>
            <a:srgbClr val="0A1510"/>
          </a:solidFill>
          <a:ln w="6350">
            <a:solidFill>
              <a:srgbClr val="1A3326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4297680" y="377647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6B6B"/>
                </a:solidFill>
              </a:rPr>
              <a:t>✗</a:t>
            </a:r>
            <a:endParaRPr lang="en-US" sz="1050" dirty="0"/>
          </a:p>
        </p:txBody>
      </p:sp>
      <p:sp>
        <p:nvSpPr>
          <p:cNvPr id="72" name="Shape 70"/>
          <p:cNvSpPr/>
          <p:nvPr/>
        </p:nvSpPr>
        <p:spPr>
          <a:xfrm>
            <a:off x="5897880" y="3776472"/>
            <a:ext cx="1645920" cy="402336"/>
          </a:xfrm>
          <a:prstGeom prst="rect">
            <a:avLst/>
          </a:prstGeom>
          <a:solidFill>
            <a:srgbClr val="0A1510"/>
          </a:solidFill>
          <a:ln w="6350">
            <a:solidFill>
              <a:srgbClr val="1A3326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5943600" y="377647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generic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7543800" y="3776472"/>
            <a:ext cx="1645920" cy="402336"/>
          </a:xfrm>
          <a:prstGeom prst="rect">
            <a:avLst/>
          </a:prstGeom>
          <a:solidFill>
            <a:srgbClr val="0A1510"/>
          </a:solidFill>
          <a:ln w="6350">
            <a:solidFill>
              <a:srgbClr val="1A3326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7589520" y="3776472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✓ (expensive)</a:t>
            </a:r>
            <a:endParaRPr lang="en-US" sz="1050" dirty="0"/>
          </a:p>
        </p:txBody>
      </p:sp>
      <p:sp>
        <p:nvSpPr>
          <p:cNvPr id="76" name="Shape 74"/>
          <p:cNvSpPr/>
          <p:nvPr/>
        </p:nvSpPr>
        <p:spPr>
          <a:xfrm>
            <a:off x="228600" y="4197096"/>
            <a:ext cx="2377440" cy="402336"/>
          </a:xfrm>
          <a:prstGeom prst="rect">
            <a:avLst/>
          </a:prstGeom>
          <a:solidFill>
            <a:srgbClr val="0F1C14"/>
          </a:solidFill>
          <a:ln w="6350">
            <a:solidFill>
              <a:srgbClr val="1A3326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274320" y="4197096"/>
            <a:ext cx="2286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Works on phone photo</a:t>
            </a:r>
            <a:endParaRPr lang="en-US" sz="1050" dirty="0"/>
          </a:p>
        </p:txBody>
      </p:sp>
      <p:sp>
        <p:nvSpPr>
          <p:cNvPr id="78" name="Shape 76"/>
          <p:cNvSpPr/>
          <p:nvPr/>
        </p:nvSpPr>
        <p:spPr>
          <a:xfrm>
            <a:off x="2606040" y="4197096"/>
            <a:ext cx="1645920" cy="402336"/>
          </a:xfrm>
          <a:prstGeom prst="rect">
            <a:avLst/>
          </a:prstGeom>
          <a:solidFill>
            <a:srgbClr val="001A10"/>
          </a:solidFill>
          <a:ln w="6350">
            <a:solidFill>
              <a:srgbClr val="1A3326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651760" y="4197096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0C896"/>
                </a:solidFill>
              </a:rPr>
              <a:t>✓</a:t>
            </a:r>
            <a:endParaRPr lang="en-US" sz="1050" dirty="0"/>
          </a:p>
        </p:txBody>
      </p:sp>
      <p:sp>
        <p:nvSpPr>
          <p:cNvPr id="80" name="Shape 78"/>
          <p:cNvSpPr/>
          <p:nvPr/>
        </p:nvSpPr>
        <p:spPr>
          <a:xfrm>
            <a:off x="4251960" y="4197096"/>
            <a:ext cx="1645920" cy="402336"/>
          </a:xfrm>
          <a:prstGeom prst="rect">
            <a:avLst/>
          </a:prstGeom>
          <a:solidFill>
            <a:srgbClr val="0F1C14"/>
          </a:solidFill>
          <a:ln w="6350">
            <a:solidFill>
              <a:srgbClr val="1A3326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297680" y="4197096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6B6B"/>
                </a:solidFill>
              </a:rPr>
              <a:t>✗</a:t>
            </a:r>
            <a:endParaRPr lang="en-US" sz="1050" dirty="0"/>
          </a:p>
        </p:txBody>
      </p:sp>
      <p:sp>
        <p:nvSpPr>
          <p:cNvPr id="82" name="Shape 80"/>
          <p:cNvSpPr/>
          <p:nvPr/>
        </p:nvSpPr>
        <p:spPr>
          <a:xfrm>
            <a:off x="5897880" y="4197096"/>
            <a:ext cx="1645920" cy="402336"/>
          </a:xfrm>
          <a:prstGeom prst="rect">
            <a:avLst/>
          </a:prstGeom>
          <a:solidFill>
            <a:srgbClr val="0F1C14"/>
          </a:solidFill>
          <a:ln w="6350">
            <a:solidFill>
              <a:srgbClr val="1A3326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943600" y="4197096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6B6B"/>
                </a:solidFill>
              </a:rPr>
              <a:t>✗</a:t>
            </a:r>
            <a:endParaRPr lang="en-US" sz="1050" dirty="0"/>
          </a:p>
        </p:txBody>
      </p:sp>
      <p:sp>
        <p:nvSpPr>
          <p:cNvPr id="84" name="Shape 82"/>
          <p:cNvSpPr/>
          <p:nvPr/>
        </p:nvSpPr>
        <p:spPr>
          <a:xfrm>
            <a:off x="7543800" y="4197096"/>
            <a:ext cx="1645920" cy="402336"/>
          </a:xfrm>
          <a:prstGeom prst="rect">
            <a:avLst/>
          </a:prstGeom>
          <a:solidFill>
            <a:srgbClr val="0F1C14"/>
          </a:solidFill>
          <a:ln w="6350">
            <a:solidFill>
              <a:srgbClr val="1A3326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589520" y="4197096"/>
            <a:ext cx="15544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6B6B"/>
                </a:solidFill>
              </a:rPr>
              <a:t>✗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0E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12 / 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C896"/>
                </a:solidFill>
              </a:rPr>
              <a:t>ROADMAP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From Hackathon to Market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457200" y="2286000"/>
            <a:ext cx="8229600" cy="50292"/>
          </a:xfrm>
          <a:prstGeom prst="rect">
            <a:avLst/>
          </a:prstGeom>
          <a:solidFill>
            <a:srgbClr val="1A3326"/>
          </a:solidFill>
          <a:ln w="12700">
            <a:solidFill>
              <a:srgbClr val="1A332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34440" y="2176272"/>
            <a:ext cx="256032" cy="256032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90195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00C896"/>
                </a:solidFill>
              </a:rPr>
              <a:t>Phase 1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57200" y="2542032"/>
            <a:ext cx="2011680" cy="2331720"/>
          </a:xfrm>
          <a:prstGeom prst="rect">
            <a:avLst/>
          </a:prstGeom>
          <a:solidFill>
            <a:srgbClr val="001A10"/>
          </a:solidFill>
          <a:ln w="19050">
            <a:solidFill>
              <a:srgbClr val="00C89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48640" y="26060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0C896"/>
                </a:solidFill>
              </a:rPr>
              <a:t>MVP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0C896"/>
                </a:solidFill>
              </a:rPr>
              <a:t>(Now)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1874520" y="2633472"/>
            <a:ext cx="502920" cy="201168"/>
          </a:xfrm>
          <a:prstGeom prst="rect">
            <a:avLst/>
          </a:prstGeom>
          <a:solidFill>
            <a:srgbClr val="00C896">
              <a:alpha val="20000"/>
            </a:srgbClr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874520" y="263347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0C896"/>
                </a:solidFill>
              </a:rPr>
              <a:t>LIVE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566928" y="3264408"/>
            <a:ext cx="91440" cy="9144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2004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Receipt upload + Claude Vision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66928" y="3648456"/>
            <a:ext cx="91440" cy="9144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358444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Malaysian emission factors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66928" y="4032504"/>
            <a:ext cx="91440" cy="9144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1520" y="396849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Dashboard + history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66928" y="4416552"/>
            <a:ext cx="91440" cy="9144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435254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AI recommendations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383280" y="2176272"/>
            <a:ext cx="256032" cy="256032"/>
          </a:xfrm>
          <a:prstGeom prst="ellipse">
            <a:avLst/>
          </a:prstGeom>
          <a:solidFill>
            <a:srgbClr val="080E0B"/>
          </a:solidFill>
          <a:ln w="25400">
            <a:solidFill>
              <a:srgbClr val="F9E79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06040" y="190195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9E795"/>
                </a:solidFill>
              </a:rPr>
              <a:t>Phase 2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2606040" y="2542032"/>
            <a:ext cx="2011680" cy="2331720"/>
          </a:xfrm>
          <a:prstGeom prst="rect">
            <a:avLst/>
          </a:prstGeom>
          <a:solidFill>
            <a:srgbClr val="0F1C14"/>
          </a:solidFill>
          <a:ln w="12700">
            <a:solidFill>
              <a:srgbClr val="1A332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2697480" y="26060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9E795"/>
                </a:solidFill>
              </a:rPr>
              <a:t>Beta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9E795"/>
                </a:solidFill>
              </a:rPr>
              <a:t>(Q3 2026)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715768" y="3264408"/>
            <a:ext cx="91440" cy="91440"/>
          </a:xfrm>
          <a:prstGeom prst="ellipse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880360" y="32004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User accounts + multi-company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715768" y="3648456"/>
            <a:ext cx="91440" cy="91440"/>
          </a:xfrm>
          <a:prstGeom prst="ellipse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880360" y="358444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PDF bill support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15768" y="4032504"/>
            <a:ext cx="91440" cy="91440"/>
          </a:xfrm>
          <a:prstGeom prst="ellipse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880360" y="396849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CSV export / ESG report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15768" y="4416552"/>
            <a:ext cx="91440" cy="91440"/>
          </a:xfrm>
          <a:prstGeom prst="ellipse">
            <a:avLst/>
          </a:prstGeom>
          <a:solidFill>
            <a:srgbClr val="F9E795"/>
          </a:solidFill>
          <a:ln w="12700">
            <a:solidFill>
              <a:srgbClr val="F9E79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880360" y="435254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Mobile-optimised UI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532120" y="2176272"/>
            <a:ext cx="256032" cy="256032"/>
          </a:xfrm>
          <a:prstGeom prst="ellipse">
            <a:avLst/>
          </a:prstGeom>
          <a:solidFill>
            <a:srgbClr val="080E0B"/>
          </a:solidFill>
          <a:ln w="25400">
            <a:solidFill>
              <a:srgbClr val="60A5F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754880" y="190195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60A5FA"/>
                </a:solidFill>
              </a:rPr>
              <a:t>Phase 3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54880" y="2542032"/>
            <a:ext cx="2011680" cy="2331720"/>
          </a:xfrm>
          <a:prstGeom prst="rect">
            <a:avLst/>
          </a:prstGeom>
          <a:solidFill>
            <a:srgbClr val="0F1C14"/>
          </a:solidFill>
          <a:ln w="12700">
            <a:solidFill>
              <a:srgbClr val="1A332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4846320" y="26060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60A5FA"/>
                </a:solidFill>
              </a:rPr>
              <a:t>Growth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60A5FA"/>
                </a:solidFill>
              </a:rPr>
              <a:t>(Q4 2026)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864608" y="3264408"/>
            <a:ext cx="91440" cy="91440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0" y="32004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Supply chain tracking (EUDR)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64608" y="3648456"/>
            <a:ext cx="91440" cy="91440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0" y="358444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Scope 3 upstream emissions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864608" y="4032504"/>
            <a:ext cx="91440" cy="91440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0" y="396849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Carbon credit marketplace link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864608" y="4416552"/>
            <a:ext cx="91440" cy="91440"/>
          </a:xfrm>
          <a:prstGeom prst="ellipse">
            <a:avLst/>
          </a:prstGeom>
          <a:solidFill>
            <a:srgbClr val="60A5FA"/>
          </a:solidFill>
          <a:ln w="12700">
            <a:solidFill>
              <a:srgbClr val="60A5F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029200" y="435254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API for SME accounting tools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680960" y="2176272"/>
            <a:ext cx="256032" cy="256032"/>
          </a:xfrm>
          <a:prstGeom prst="ellipse">
            <a:avLst/>
          </a:prstGeom>
          <a:solidFill>
            <a:srgbClr val="080E0B"/>
          </a:solidFill>
          <a:ln w="25400">
            <a:solidFill>
              <a:srgbClr val="FF6B6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903720" y="190195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6B6B"/>
                </a:solidFill>
              </a:rPr>
              <a:t>Phase 4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6903720" y="2542032"/>
            <a:ext cx="2011680" cy="2331720"/>
          </a:xfrm>
          <a:prstGeom prst="rect">
            <a:avLst/>
          </a:prstGeom>
          <a:solidFill>
            <a:srgbClr val="0F1C14"/>
          </a:solidFill>
          <a:ln w="12700">
            <a:solidFill>
              <a:srgbClr val="1A332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48" name="Text 46"/>
          <p:cNvSpPr/>
          <p:nvPr/>
        </p:nvSpPr>
        <p:spPr>
          <a:xfrm>
            <a:off x="6995160" y="26060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6B6B"/>
                </a:solidFill>
              </a:rPr>
              <a:t>Scale</a:t>
            </a:r>
            <a:endParaRPr lang="en-US" sz="13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FF6B6B"/>
                </a:solidFill>
              </a:rPr>
              <a:t>(2027)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7013448" y="3264408"/>
            <a:ext cx="91440" cy="9144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178040" y="32004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Bank/insurer integrations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7013448" y="3648456"/>
            <a:ext cx="91440" cy="9144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178040" y="3584448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Automated regulatory reports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013448" y="4032504"/>
            <a:ext cx="91440" cy="9144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178040" y="3968496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Carbon benchmarking by industry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7013448" y="4416552"/>
            <a:ext cx="91440" cy="91440"/>
          </a:xfrm>
          <a:prstGeom prst="ellipse">
            <a:avLst/>
          </a:prstGeom>
          <a:solidFill>
            <a:srgbClr val="FF6B6B"/>
          </a:solidFill>
          <a:ln w="12700">
            <a:solidFill>
              <a:srgbClr val="FF6B6B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178040" y="4352544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Southeast Asia expansion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0E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046720" y="489204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374151"/>
                </a:solidFill>
              </a:rPr>
              <a:t>13 / 14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18288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300" kern="0" dirty="0">
                <a:solidFill>
                  <a:srgbClr val="00C896"/>
                </a:solidFill>
              </a:rPr>
              <a:t>BUSINESS MODEL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Accessible Pricing for Every SME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365760" y="1188720"/>
            <a:ext cx="2743200" cy="3611880"/>
          </a:xfrm>
          <a:prstGeom prst="rect">
            <a:avLst/>
          </a:prstGeom>
          <a:solidFill>
            <a:srgbClr val="0F1C14"/>
          </a:solidFill>
          <a:ln w="12700">
            <a:solidFill>
              <a:srgbClr val="1A332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65760" y="1188720"/>
            <a:ext cx="2743200" cy="50292"/>
          </a:xfrm>
          <a:prstGeom prst="rect">
            <a:avLst/>
          </a:prstGeom>
          <a:solidFill>
            <a:srgbClr val="1A3326"/>
          </a:solidFill>
          <a:ln w="12700">
            <a:solidFill>
              <a:srgbClr val="1A332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2984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Starter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02920" y="16916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Free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502920" y="23774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forever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02920" y="2697480"/>
            <a:ext cx="2468880" cy="0"/>
          </a:xfrm>
          <a:prstGeom prst="line">
            <a:avLst/>
          </a:prstGeom>
          <a:noFill/>
          <a:ln w="12700">
            <a:solidFill>
              <a:srgbClr val="1A332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7889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✓  5 receipts/month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31363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✓  Dashboard + history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348386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✓  Basic recommendations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383133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✓  Email support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4480560"/>
            <a:ext cx="2468880" cy="256032"/>
          </a:xfrm>
          <a:prstGeom prst="rect">
            <a:avLst/>
          </a:prstGeom>
          <a:solidFill>
            <a:srgbClr val="0D1117"/>
          </a:solidFill>
          <a:ln w="12700">
            <a:solidFill>
              <a:srgbClr val="1A332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44805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CA3AF"/>
                </a:solidFill>
              </a:rPr>
              <a:t>No credit card needed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46120" y="1188720"/>
            <a:ext cx="2743200" cy="3611880"/>
          </a:xfrm>
          <a:prstGeom prst="rect">
            <a:avLst/>
          </a:prstGeom>
          <a:solidFill>
            <a:srgbClr val="001A10"/>
          </a:solidFill>
          <a:ln w="19050">
            <a:solidFill>
              <a:srgbClr val="00C89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46120" y="1188720"/>
            <a:ext cx="2743200" cy="5029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17720" y="1234440"/>
            <a:ext cx="1188720" cy="25603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17720" y="1234440"/>
            <a:ext cx="1188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080E0B"/>
                </a:solidFill>
              </a:rPr>
              <a:t>RECOMMENDED</a:t>
            </a:r>
            <a:endParaRPr lang="en-US" sz="750" dirty="0"/>
          </a:p>
        </p:txBody>
      </p:sp>
      <p:sp>
        <p:nvSpPr>
          <p:cNvPr id="22" name="Text 20"/>
          <p:cNvSpPr/>
          <p:nvPr/>
        </p:nvSpPr>
        <p:spPr>
          <a:xfrm>
            <a:off x="3383280" y="129844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Growth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3383280" y="16916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0C896"/>
                </a:solidFill>
              </a:rPr>
              <a:t>RM 99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3383280" y="23774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per month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83280" y="2697480"/>
            <a:ext cx="2468880" cy="0"/>
          </a:xfrm>
          <a:prstGeom prst="line">
            <a:avLst/>
          </a:prstGeom>
          <a:noFill/>
          <a:ln w="12700">
            <a:solidFill>
              <a:srgbClr val="1A33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383280" y="27889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  Unlimited receipts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383280" y="31363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  PDF + OCR support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3383280" y="348386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  Full ESG export report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3383280" y="383133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✓  Priority support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383280" y="4480560"/>
            <a:ext cx="2468880" cy="256032"/>
          </a:xfrm>
          <a:prstGeom prst="rect">
            <a:avLst/>
          </a:prstGeom>
          <a:solidFill>
            <a:srgbClr val="002A18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83280" y="44805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0C896"/>
                </a:solidFill>
              </a:rPr>
              <a:t>Most popular for SMEs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126480" y="1188720"/>
            <a:ext cx="2743200" cy="3611880"/>
          </a:xfrm>
          <a:prstGeom prst="rect">
            <a:avLst/>
          </a:prstGeom>
          <a:solidFill>
            <a:srgbClr val="0F1C14"/>
          </a:solidFill>
          <a:ln w="12700">
            <a:solidFill>
              <a:srgbClr val="1A3326"/>
            </a:solidFill>
            <a:prstDash val="solid"/>
          </a:ln>
          <a:effectLst>
            <a:outerShdw sx="100000" sy="100000" kx="0" ky="0" algn="bl" rotWithShape="0" blurRad="127000" dist="38100" dir="8100000">
              <a:srgbClr val="000000">
                <a:alpha val="35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126480" y="1188720"/>
            <a:ext cx="2743200" cy="50292"/>
          </a:xfrm>
          <a:prstGeom prst="rect">
            <a:avLst/>
          </a:prstGeom>
          <a:solidFill>
            <a:srgbClr val="1A3326"/>
          </a:solidFill>
          <a:ln w="12700">
            <a:solidFill>
              <a:srgbClr val="1A332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63640" y="129844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Enterprise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263640" y="1691640"/>
            <a:ext cx="24688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Custom</a:t>
            </a:r>
            <a:endParaRPr lang="en-US" sz="3600" dirty="0"/>
          </a:p>
        </p:txBody>
      </p:sp>
      <p:sp>
        <p:nvSpPr>
          <p:cNvPr id="36" name="Text 34"/>
          <p:cNvSpPr/>
          <p:nvPr/>
        </p:nvSpPr>
        <p:spPr>
          <a:xfrm>
            <a:off x="6263640" y="237744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A3AF"/>
                </a:solidFill>
              </a:rPr>
              <a:t>per company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6263640" y="2697480"/>
            <a:ext cx="2468880" cy="0"/>
          </a:xfrm>
          <a:prstGeom prst="line">
            <a:avLst/>
          </a:prstGeom>
          <a:noFill/>
          <a:ln w="12700">
            <a:solidFill>
              <a:srgbClr val="1A332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63640" y="27889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✓  Multi-company accounts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263640" y="3136392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✓  Supply chain scope 3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263640" y="3483864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✓  API access + integrations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263640" y="3831336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CA3AF"/>
                </a:solidFill>
              </a:rPr>
              <a:t>✓  Dedicated account manager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6263640" y="4480560"/>
            <a:ext cx="2468880" cy="256032"/>
          </a:xfrm>
          <a:prstGeom prst="rect">
            <a:avLst/>
          </a:prstGeom>
          <a:solidFill>
            <a:srgbClr val="0D1117"/>
          </a:solidFill>
          <a:ln w="12700">
            <a:solidFill>
              <a:srgbClr val="1A3326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263640" y="4480560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CA3AF"/>
                </a:solidFill>
              </a:rPr>
              <a:t>For larger businesses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365760" y="4892040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374151"/>
                </a:solidFill>
              </a:rPr>
              <a:t>Revenue model: SaaS subscriptions + white-label licensing to banks, accounting firms, and government agencies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0E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0271C"/>
          </a:solidFill>
          <a:ln w="12700">
            <a:solidFill>
              <a:srgbClr val="00271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754880"/>
            <a:ext cx="9144000" cy="50292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371600" y="2286000"/>
            <a:ext cx="4572000" cy="4572000"/>
          </a:xfrm>
          <a:prstGeom prst="ellipse">
            <a:avLst/>
          </a:prstGeom>
          <a:solidFill>
            <a:srgbClr val="001810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001810"/>
          </a:solidFill>
          <a:ln w="12700">
            <a:solidFill>
              <a:srgbClr val="00997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54864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FFFFFF"/>
                </a:solidFill>
              </a:rPr>
              <a:t>Thank You</a:t>
            </a:r>
            <a:endParaRPr lang="en-US" sz="5600" dirty="0"/>
          </a:p>
        </p:txBody>
      </p:sp>
      <p:sp>
        <p:nvSpPr>
          <p:cNvPr id="7" name="Text 5"/>
          <p:cNvSpPr/>
          <p:nvPr/>
        </p:nvSpPr>
        <p:spPr>
          <a:xfrm>
            <a:off x="457200" y="150876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9CA3AF"/>
                </a:solidFill>
              </a:rPr>
              <a:t>GreenLedger — Measuring Carbon.</a:t>
            </a:r>
            <a:endParaRPr lang="en-US" sz="1500" dirty="0"/>
          </a:p>
          <a:p>
            <a:pPr algn="ctr" indent="0" marL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9CA3AF"/>
                </a:solidFill>
              </a:rPr>
              <a:t>Enabling Action. Building a Sustainable Malaysia.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286000" y="2331720"/>
            <a:ext cx="4572000" cy="0"/>
          </a:xfrm>
          <a:prstGeom prst="line">
            <a:avLst/>
          </a:prstGeom>
          <a:noFill/>
          <a:ln w="12700">
            <a:solidFill>
              <a:srgbClr val="1A332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80160" y="2606040"/>
            <a:ext cx="320040" cy="32004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80160" y="26060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0E0B"/>
                </a:solidFill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14400" y="299923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Try the Live Demo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33101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CA3AF"/>
                </a:solidFill>
              </a:rPr>
              <a:t>Upload any utility bill and see carbon analysis in real time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11880" y="2606040"/>
            <a:ext cx="320040" cy="32004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11880" y="26060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0E0B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246120" y="299923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Partner with Us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246120" y="33101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CA3AF"/>
                </a:solidFill>
              </a:rPr>
              <a:t>Pilot with your SME network — zero cost during beta phase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943600" y="2606040"/>
            <a:ext cx="320040" cy="320040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0" y="26060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80E0B"/>
                </a:solidFill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577840" y="299923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Join Our Mission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577840" y="331012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9CA3AF"/>
                </a:solidFill>
              </a:rPr>
              <a:t>We are looking for mentors, investors, and early adopters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0" y="40690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0C896"/>
                </a:solidFill>
              </a:rPr>
              <a:t>Team Da House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0" y="440740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374151"/>
                </a:solidFill>
              </a:rPr>
              <a:t>Earth Day Hackathon 2026 · The Access Group · Kuala Lumpur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65760" y="480060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D9977"/>
                </a:solidFill>
              </a:rPr>
              <a:t>Team Da House · Earth Day Hackathon 2026 · Built with Claude AI + FastAPI + React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GreenLedger — Earth Day Hackathon 2026</dc:title>
  <dc:subject>PptxGenJS Presentation</dc:subject>
  <dc:creator>Da House</dc:creator>
  <cp:lastModifiedBy>Da House</cp:lastModifiedBy>
  <cp:revision>1</cp:revision>
  <dcterms:created xsi:type="dcterms:W3CDTF">2026-04-13T11:13:57Z</dcterms:created>
  <dcterms:modified xsi:type="dcterms:W3CDTF">2026-04-13T11:13:57Z</dcterms:modified>
</cp:coreProperties>
</file>